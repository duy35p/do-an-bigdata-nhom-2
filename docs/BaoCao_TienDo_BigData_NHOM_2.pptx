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6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830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 chào quý thầy cô và các bạn. Nhóm em là nhóm 2, xin phép báo cáo tiến độ đồ án môn Dữ liệu lớn với đề tài: Xây dựng hệ thống gợi ý phim trực tuyến dựa trên kiến trúc Lakehouse và điện toán phân tán. Nhóm gồm ba thành viên: Phan Trần Hữu Duy, Chung Tuấn Hỷ và Đặng Thái Hoà, dưới sự hướng dẫn của thầy Huỳnh Thái Học.</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báo cáo gồm bảy phần. Đầu tiên là tổng quan đề tài và kiến trúc hệ thống. Tiếp theo là tiến độ thực hiện chi tiết, đi từ lưu trữ HDFS, xử lý bằng PySpark, huấn luyện mô hình ALS đến streaming Kafka, Airflow và giao diện FastAPI. Cuối cùng là tổng hợp tiến độ, khó khăn và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của nhóm là xây dựng một pipeline dữ liệu lớn hoàn chỉnh, mô phỏng nền tảng phim trực tuyến, từ lưu trữ dữ liệu thô đến trình bày kết quả. Cụ thể có sáu mục tiêu: lưu trữ phân tán theo mô hình Medallion trên HDFS; xử lý theo lô bằng PySpark; huấn luyện mô hình gợi ý ALS bằng Spark MLlib; thu nhận dữ liệu thời gian thực bằng Kafka; điều phối tự động bằng Airflow; và phục vụ dữ liệu qua giao diện web FastAPI.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dùng hai bộ dữ liệu công khai. Thứ nhất là MovieLens 25M của GroupLens, gồm 25 triệu lượt đánh giá, 1 triệu tag trên hơn 62 nghìn bộ phim của hơn 162 nghìn người dùng, với ba tệp chính là movies, ratings và links. Thứ hai là The Movies Dataset trên Kaggle, bổ sung mô tả nội dung, điểm TMDB, kinh phí và ngày phát hành qua hai tệp movies_metadata và credits.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chạy trên Ubuntu 26.04 trong WSL2, với Python 3.14, OpenJDK 8, Hadoop 3.3.6, PySpark 3.5.1, Kafka 3.6.2 chế độ KRaft và Airflow 3.3.2. Điểm cần lưu ý là máy ảo WSL chỉ có khoảng 1,4 GB RAM. Đây là ràng buộc lớn, ảnh hưởng đến nhiều quyết định tối ưu mà nhóm sẽ trình bày ở các slide sau.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tổ chức theo kiến trúc Lakehouse ba tầng. Nguồn dữ liệu gồm các tệp CSV và log do Kafka Producer sinh ra. Tầng Bronze lưu dữ liệu thô. Tầng Silver lưu dữ liệu đã làm sạch dạng Snappy Parquet, cùng log streaming. Tầng Gold lưu kết quả phân tích và gợi ý phim. Có hai luồng xử lý: luồng batch dùng PySpark, Spark SQL và MLlib; luồng streaming dùng Kafka và Spark Structured Streaming. Airflow lập lịch, còn FastAPI đọc HDFS qua WebHDFS để hiển thị.</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Giai đoạn đầu là chuẩn bị môi trường. Nhóm nạp Ubuntu vào WSL2, cài Java, SSH không mật khẩu, rồi cài Hadoop 3.3.6 và khởi động HDFS. Để mô phỏng kiến trúc phân tán thật trên một máy, nhóm mở rộng lên hai DataNode bằng cách tạo bản sao cấu hình riêng, đổi cổng mạng, tệp PID và thư mục log để tránh xung đột. Kết quả là giao diện NameNode hiển thị 2 Live Nodes. Nhóm cũng tạo cấu trúc thư mục Medallion và đặt hệ số nhân bản tầng Bronze bằng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giai đoạn hai, nhóm tải dữ liệu từ Kaggle, giải nén rồi đẩy lên tầng Bronze bằng lệnh hdfs dfs -put. Sang giai đoạn ba, chương trình process_movies.py dùng PySpark đọc trực tiếp CSV từ HDFS. Riêng tệp movies_metadata có ký tự xuống dòng nên phải đọc với các tùy chọn quote, escape và multiLine. Sau đó nhóm ghép ba bảng movies, links và metadata theo movieId và tmdbId, rồi chọn các cột cần dùng.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Giai đoạn bốn là làm sạch dữ liệu bằng clean_data.py. Nhóm đổi tên cột để tránh lỗi AMBIGUOUS_REFERENCE khi join, trích năm phát hành từ tiêu đề bằng biểu thức chính quy, ép kiểu điểm TMDB về thang 0 đến 10, loại kinh phí không hợp lệ, điền giá trị thiếu và đổi timestamp sang dạng thời gian đọc được. Về tài nguyên, nhóm chuyển thư mục tạm của Spark sang đĩa thực và bỏ dropDuplicates để tránh shuffle. Kết quả: 62.423 phim và 25 triệu đánh giá được ghi dưới dạng Snappy Parquet.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giai đoạn năm, nhóm dùng Spark SQL để phân tích. Các DataFrame được đăng ký thành bảng tạm, sau đó chạy truy vấn chuẩn ANSI ghép ba bảng, lọc phim có điểm TMDB từ 8.0 trở lên và kinh phí trên 10 triệu đô la. Kết quả là Top 5 tác phẩm kinh điển có mức đầu tư lớn, như trong hình.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Giai đoạn sáu là huấn luyện mô hình gợi ý bằng thuật toán ALS, một phương pháp phân rã ma trận cho lọc cộng tác. Vì chỉ có khoảng 1,4 GB RAM, nhóm lấy mẫu 3% dữ liệu, khoảng 750 nghìn bản ghi, chia 80% để huấn luyện và 20% để kiểm tra, với rank bằng 10, 5 vòng lặp và regParam 0.1. Mô hình đạt RMSE 1.1870 trên thang điểm 1 đến 5, thời gian huấn luyện và sinh gợi ý là 92,3 giây.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khi có mô hình, nhóm dùng hàm recommendForUserSubset để sinh Top 5 phim cho một tập người dùng. Kết quả được tách mảng bằng explode, ghép với bảng phim tầng Silver để có tên phim, thể loại và điểm dự đoán, rồi ghi Parquet vào tầng Gold. Bảng này là một số kết quả mẫu, ví dụ người dùng 95 được gợi ý Kizumonogatari Part 1 với điểm dự đoán 7,10.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Giai đoạn tám xử lý dữ liệu thời gian thực. Producer sinh log tương tác giả lập gồm user, phim và hành động như click, view, add_to_watchlist, rate, mỗi giây một bản tin, gửi vào topic movie_logs của Kafka chạy chế độ KRaft. Spark Structured Streaming đọc topic này, giải mã JSON và ghi liên tục xuống tầng Silver trên HDFS, có checkpoint để đảm bảo an toàn. Nhóm đã kiểm chứng dữ liệu xuất hiện trên HDFS.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Giai đoạn chín là tự động hóa bằng Airflow 3.3.2. Nhóm phải nâng cấp từ bản 2.9 vì Python 3.14 không còn được hỗ trợ, và viết một CLI tùy chỉnh vì pip không sinh tệp lệnh airflow. DAG movie_data_pipeline chạy hàng ngày, dùng BashOperator để kích hoạt tác vụ Spark batch, trạng thái và log được theo dõi trên giao diện web. Hạng mục này đạt mức cơ bản và sẽ được hoàn thiện thêm.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trực quan hóa, nhóm xây dựng giao diện web bằng FastAPI, chạy bằng uvicorn tại cổng 8000, kết nối HDFS qua WebHDFS REST API và hiển thị dữ liệu của ba tầng Bronze, Silver, Gold. Đây hiện là bản kiểm thử nhanh, sẽ được hoàn thiện ở giai đoạn sau.</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Tổng hợp lại, mười hạng mục đều đã có kết quả. Tám hạng mục đã hoàn thành đầy đủ, từ cụm HDFS, tầng Bronze, PySpark, Silver, Spark SQL, mô hình ALS, tầng Gold đến Kafka và Streaming. Airflow hoàn thành ở mức cơ bản và giao diện FastAPI mới ở bản kiểm thử.</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với lúc đầu, dữ liệu trên HDFS chuyển từ CSV thô sang Parquet nén Snappy, giảm khoảng 70% kích thước và đọc nhanh hơn nhiều lần. Dữ liệu đã được làm sạch và chuẩn hóa. Hệ thống có mô hình ALS với RMSE 1.1870, kết quả gợi ý được lưu vào tầng Gold thay vì chỉ hiển thị tạm, đồng thời đã có luồng Kafka Streaming và DAG Airflow thay cho việc chạy thủ công.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gặp bảy khó khăn chính. Mỗi máy chỉ chạy một DataNode, nhóm giải quyết bằng cách nhân bản cấu hình và đổi cổng. Tràn đĩa tạm khi xử lý 25 triệu dòng được xử lý bằng cách chuyển thư mục tạm sang đĩa thực. Thiếu RAM khi huấn luyện ALS thì lấy mẫu 3% dữ liệu. Ngoài ra còn lỗi join, lỗi đọc CSV có xuống dòng, vấn đề tương thích phiên bản, và việc mất dữ liệu trong /tmp khi khởi động lại WSL, nhóm đã xử lý từng vấn đề như trên slide.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Đến</a:t>
            </a:r>
            <a:r>
              <a:rPr dirty="0"/>
              <a:t> </a:t>
            </a:r>
            <a:r>
              <a:rPr dirty="0" err="1"/>
              <a:t>thời</a:t>
            </a:r>
            <a:r>
              <a:rPr dirty="0"/>
              <a:t> </a:t>
            </a:r>
            <a:r>
              <a:rPr dirty="0" err="1"/>
              <a:t>điểm</a:t>
            </a:r>
            <a:r>
              <a:rPr dirty="0"/>
              <a:t> </a:t>
            </a:r>
            <a:r>
              <a:rPr dirty="0" err="1"/>
              <a:t>này</a:t>
            </a:r>
            <a:r>
              <a:rPr dirty="0"/>
              <a:t>, </a:t>
            </a:r>
            <a:r>
              <a:rPr dirty="0" err="1"/>
              <a:t>nhóm</a:t>
            </a:r>
            <a:r>
              <a:rPr dirty="0"/>
              <a:t> </a:t>
            </a:r>
            <a:r>
              <a:rPr dirty="0" err="1"/>
              <a:t>đã</a:t>
            </a:r>
            <a:r>
              <a:rPr dirty="0"/>
              <a:t> </a:t>
            </a:r>
            <a:r>
              <a:rPr dirty="0" err="1"/>
              <a:t>hoàn</a:t>
            </a:r>
            <a:r>
              <a:rPr dirty="0"/>
              <a:t> </a:t>
            </a:r>
            <a:r>
              <a:rPr dirty="0" err="1"/>
              <a:t>thành</a:t>
            </a:r>
            <a:r>
              <a:rPr dirty="0"/>
              <a:t> </a:t>
            </a:r>
            <a:r>
              <a:rPr dirty="0" err="1"/>
              <a:t>các</a:t>
            </a:r>
            <a:r>
              <a:rPr dirty="0"/>
              <a:t> </a:t>
            </a:r>
            <a:r>
              <a:rPr dirty="0" err="1"/>
              <a:t>thành</a:t>
            </a:r>
            <a:r>
              <a:rPr dirty="0"/>
              <a:t> </a:t>
            </a:r>
            <a:r>
              <a:rPr dirty="0" err="1"/>
              <a:t>phần</a:t>
            </a:r>
            <a:r>
              <a:rPr dirty="0"/>
              <a:t> </a:t>
            </a:r>
            <a:r>
              <a:rPr dirty="0" err="1"/>
              <a:t>cốt</a:t>
            </a:r>
            <a:r>
              <a:rPr dirty="0"/>
              <a:t> </a:t>
            </a:r>
            <a:r>
              <a:rPr dirty="0" err="1"/>
              <a:t>lõi</a:t>
            </a:r>
            <a:r>
              <a:rPr dirty="0"/>
              <a:t>: </a:t>
            </a:r>
            <a:r>
              <a:rPr dirty="0" err="1"/>
              <a:t>cụm</a:t>
            </a:r>
            <a:r>
              <a:rPr dirty="0"/>
              <a:t> HDFS </a:t>
            </a:r>
            <a:r>
              <a:rPr dirty="0" err="1"/>
              <a:t>hai</a:t>
            </a:r>
            <a:r>
              <a:rPr dirty="0"/>
              <a:t> </a:t>
            </a:r>
            <a:r>
              <a:rPr dirty="0" err="1"/>
              <a:t>DataNode</a:t>
            </a:r>
            <a:r>
              <a:rPr dirty="0"/>
              <a:t>, </a:t>
            </a:r>
            <a:r>
              <a:rPr dirty="0" err="1"/>
              <a:t>kho</a:t>
            </a:r>
            <a:r>
              <a:rPr dirty="0"/>
              <a:t> Medallion </a:t>
            </a:r>
            <a:r>
              <a:rPr dirty="0" err="1"/>
              <a:t>với</a:t>
            </a:r>
            <a:r>
              <a:rPr dirty="0"/>
              <a:t> 25 </a:t>
            </a:r>
            <a:r>
              <a:rPr dirty="0" err="1"/>
              <a:t>triệu</a:t>
            </a:r>
            <a:r>
              <a:rPr dirty="0"/>
              <a:t> </a:t>
            </a:r>
            <a:r>
              <a:rPr dirty="0" err="1"/>
              <a:t>đánh</a:t>
            </a:r>
            <a:r>
              <a:rPr dirty="0"/>
              <a:t> </a:t>
            </a:r>
            <a:r>
              <a:rPr dirty="0" err="1"/>
              <a:t>giá</a:t>
            </a:r>
            <a:r>
              <a:rPr dirty="0"/>
              <a:t> ở </a:t>
            </a:r>
            <a:r>
              <a:rPr dirty="0" err="1"/>
              <a:t>định</a:t>
            </a:r>
            <a:r>
              <a:rPr dirty="0"/>
              <a:t> </a:t>
            </a:r>
            <a:r>
              <a:rPr dirty="0" err="1"/>
              <a:t>dạng</a:t>
            </a:r>
            <a:r>
              <a:rPr dirty="0"/>
              <a:t> Parquet, pipeline </a:t>
            </a:r>
            <a:r>
              <a:rPr dirty="0" err="1"/>
              <a:t>PySpark</a:t>
            </a:r>
            <a:r>
              <a:rPr dirty="0"/>
              <a:t>, </a:t>
            </a:r>
            <a:r>
              <a:rPr dirty="0" err="1"/>
              <a:t>mô</a:t>
            </a:r>
            <a:r>
              <a:rPr dirty="0"/>
              <a:t> </a:t>
            </a:r>
            <a:r>
              <a:rPr dirty="0" err="1"/>
              <a:t>hình</a:t>
            </a:r>
            <a:r>
              <a:rPr dirty="0"/>
              <a:t> ALS </a:t>
            </a:r>
            <a:r>
              <a:rPr dirty="0" err="1"/>
              <a:t>với</a:t>
            </a:r>
            <a:r>
              <a:rPr dirty="0"/>
              <a:t> </a:t>
            </a:r>
            <a:r>
              <a:rPr dirty="0" err="1"/>
              <a:t>kết</a:t>
            </a:r>
            <a:r>
              <a:rPr dirty="0"/>
              <a:t> </a:t>
            </a:r>
            <a:r>
              <a:rPr dirty="0" err="1"/>
              <a:t>quả</a:t>
            </a:r>
            <a:r>
              <a:rPr dirty="0"/>
              <a:t> ở </a:t>
            </a:r>
            <a:r>
              <a:rPr dirty="0" err="1"/>
              <a:t>tầng</a:t>
            </a:r>
            <a:r>
              <a:rPr dirty="0"/>
              <a:t> Gold, </a:t>
            </a:r>
            <a:r>
              <a:rPr dirty="0" err="1"/>
              <a:t>luồng</a:t>
            </a:r>
            <a:r>
              <a:rPr dirty="0"/>
              <a:t> Kafka </a:t>
            </a:r>
            <a:r>
              <a:rPr dirty="0" err="1"/>
              <a:t>và</a:t>
            </a:r>
            <a:r>
              <a:rPr dirty="0"/>
              <a:t> Spark Streaming, Airflow </a:t>
            </a:r>
            <a:r>
              <a:rPr dirty="0" err="1"/>
              <a:t>và</a:t>
            </a:r>
            <a:r>
              <a:rPr dirty="0"/>
              <a:t> </a:t>
            </a:r>
            <a:r>
              <a:rPr dirty="0" err="1"/>
              <a:t>giao</a:t>
            </a:r>
            <a:r>
              <a:rPr dirty="0"/>
              <a:t> </a:t>
            </a:r>
            <a:r>
              <a:rPr dirty="0" err="1"/>
              <a:t>diện</a:t>
            </a:r>
            <a:r>
              <a:rPr dirty="0"/>
              <a:t> </a:t>
            </a:r>
            <a:r>
              <a:rPr dirty="0" err="1"/>
              <a:t>FastAPI</a:t>
            </a:r>
            <a:r>
              <a:rPr dirty="0"/>
              <a:t>. </a:t>
            </a:r>
            <a:r>
              <a:rPr dirty="0" err="1"/>
              <a:t>Hệ</a:t>
            </a:r>
            <a:r>
              <a:rPr dirty="0"/>
              <a:t> </a:t>
            </a:r>
            <a:r>
              <a:rPr dirty="0" err="1"/>
              <a:t>thống</a:t>
            </a:r>
            <a:r>
              <a:rPr dirty="0"/>
              <a:t> </a:t>
            </a:r>
            <a:r>
              <a:rPr dirty="0" err="1"/>
              <a:t>vận</a:t>
            </a:r>
            <a:r>
              <a:rPr dirty="0"/>
              <a:t> </a:t>
            </a:r>
            <a:r>
              <a:rPr dirty="0" err="1"/>
              <a:t>hành</a:t>
            </a:r>
            <a:r>
              <a:rPr dirty="0"/>
              <a:t> </a:t>
            </a:r>
            <a:r>
              <a:rPr dirty="0" err="1"/>
              <a:t>ổn</a:t>
            </a:r>
            <a:r>
              <a:rPr dirty="0"/>
              <a:t> </a:t>
            </a:r>
            <a:r>
              <a:rPr dirty="0" err="1"/>
              <a:t>định</a:t>
            </a:r>
            <a:r>
              <a:rPr dirty="0"/>
              <a:t> </a:t>
            </a:r>
            <a:r>
              <a:rPr dirty="0" err="1"/>
              <a:t>trên</a:t>
            </a:r>
            <a:r>
              <a:rPr dirty="0"/>
              <a:t> </a:t>
            </a:r>
            <a:r>
              <a:rPr dirty="0" err="1"/>
              <a:t>tài</a:t>
            </a:r>
            <a:r>
              <a:rPr dirty="0"/>
              <a:t> </a:t>
            </a:r>
            <a:r>
              <a:rPr dirty="0" err="1"/>
              <a:t>nguyên</a:t>
            </a:r>
            <a:r>
              <a:rPr dirty="0"/>
              <a:t> </a:t>
            </a:r>
            <a:r>
              <a:rPr dirty="0" err="1"/>
              <a:t>hạn</a:t>
            </a:r>
            <a:r>
              <a:rPr dirty="0"/>
              <a:t> </a:t>
            </a:r>
            <a:r>
              <a:rPr dirty="0" err="1"/>
              <a:t>chế</a:t>
            </a:r>
            <a:r>
              <a:rPr dirty="0"/>
              <a:t>. </a:t>
            </a:r>
            <a:r>
              <a:rPr dirty="0" err="1"/>
              <a:t>Các</a:t>
            </a:r>
            <a:r>
              <a:rPr dirty="0"/>
              <a:t> </a:t>
            </a:r>
            <a:r>
              <a:rPr dirty="0" err="1"/>
              <a:t>bước</a:t>
            </a:r>
            <a:r>
              <a:rPr dirty="0"/>
              <a:t> </a:t>
            </a:r>
            <a:r>
              <a:rPr dirty="0" err="1"/>
              <a:t>tiếp</a:t>
            </a:r>
            <a:r>
              <a:rPr dirty="0"/>
              <a:t> </a:t>
            </a:r>
            <a:r>
              <a:rPr dirty="0" err="1"/>
              <a:t>theo</a:t>
            </a:r>
            <a:r>
              <a:rPr dirty="0"/>
              <a:t> </a:t>
            </a:r>
            <a:r>
              <a:rPr dirty="0" err="1"/>
              <a:t>là</a:t>
            </a:r>
            <a:r>
              <a:rPr dirty="0"/>
              <a:t> </a:t>
            </a:r>
            <a:r>
              <a:rPr dirty="0" err="1"/>
              <a:t>nâng</a:t>
            </a:r>
            <a:r>
              <a:rPr dirty="0"/>
              <a:t> </a:t>
            </a:r>
            <a:r>
              <a:rPr dirty="0" err="1"/>
              <a:t>cao</a:t>
            </a:r>
            <a:r>
              <a:rPr dirty="0"/>
              <a:t> </a:t>
            </a:r>
            <a:r>
              <a:rPr dirty="0" err="1"/>
              <a:t>chất</a:t>
            </a:r>
            <a:r>
              <a:rPr dirty="0"/>
              <a:t> </a:t>
            </a:r>
            <a:r>
              <a:rPr dirty="0" err="1"/>
              <a:t>lượng</a:t>
            </a:r>
            <a:r>
              <a:rPr dirty="0"/>
              <a:t> </a:t>
            </a:r>
            <a:r>
              <a:rPr dirty="0" err="1"/>
              <a:t>mô</a:t>
            </a:r>
            <a:r>
              <a:rPr dirty="0"/>
              <a:t> </a:t>
            </a:r>
            <a:r>
              <a:rPr dirty="0" err="1"/>
              <a:t>hình</a:t>
            </a:r>
            <a:r>
              <a:rPr dirty="0"/>
              <a:t>, </a:t>
            </a:r>
            <a:r>
              <a:rPr dirty="0" err="1"/>
              <a:t>hoàn</a:t>
            </a:r>
            <a:r>
              <a:rPr dirty="0"/>
              <a:t> </a:t>
            </a:r>
            <a:r>
              <a:rPr dirty="0" err="1"/>
              <a:t>thiện</a:t>
            </a:r>
            <a:r>
              <a:rPr dirty="0"/>
              <a:t> </a:t>
            </a:r>
            <a:r>
              <a:rPr dirty="0" err="1"/>
              <a:t>chuỗi</a:t>
            </a:r>
            <a:r>
              <a:rPr dirty="0"/>
              <a:t> </a:t>
            </a:r>
            <a:r>
              <a:rPr dirty="0" err="1"/>
              <a:t>tự</a:t>
            </a:r>
            <a:r>
              <a:rPr dirty="0"/>
              <a:t> </a:t>
            </a:r>
            <a:r>
              <a:rPr dirty="0" err="1"/>
              <a:t>động</a:t>
            </a:r>
            <a:r>
              <a:rPr dirty="0"/>
              <a:t> </a:t>
            </a:r>
            <a:r>
              <a:rPr dirty="0" err="1"/>
              <a:t>hóa</a:t>
            </a:r>
            <a:r>
              <a:rPr dirty="0"/>
              <a:t> </a:t>
            </a:r>
            <a:r>
              <a:rPr dirty="0" err="1"/>
              <a:t>và</a:t>
            </a:r>
            <a:r>
              <a:rPr dirty="0"/>
              <a:t> </a:t>
            </a:r>
            <a:r>
              <a:rPr dirty="0" err="1"/>
              <a:t>giao</a:t>
            </a:r>
            <a:r>
              <a:rPr dirty="0"/>
              <a:t> </a:t>
            </a:r>
            <a:r>
              <a:rPr dirty="0" err="1"/>
              <a:t>diện</a:t>
            </a:r>
            <a:r>
              <a:rPr dirty="0"/>
              <a:t> </a:t>
            </a:r>
            <a:r>
              <a:rPr dirty="0" err="1"/>
              <a:t>trình</a:t>
            </a:r>
            <a:r>
              <a:rPr dirty="0"/>
              <a:t> </a:t>
            </a:r>
            <a:r>
              <a:rPr dirty="0" err="1"/>
              <a:t>bày</a:t>
            </a:r>
            <a:r>
              <a:rPr dirty="0"/>
              <a:t> </a:t>
            </a:r>
            <a:r>
              <a:rPr dirty="0" err="1"/>
              <a:t>để</a:t>
            </a:r>
            <a:r>
              <a:rPr dirty="0"/>
              <a:t> </a:t>
            </a:r>
            <a:r>
              <a:rPr dirty="0" err="1"/>
              <a:t>hoàn</a:t>
            </a:r>
            <a:r>
              <a:rPr dirty="0"/>
              <a:t> </a:t>
            </a:r>
            <a:r>
              <a:rPr dirty="0" err="1"/>
              <a:t>tất</a:t>
            </a:r>
            <a:r>
              <a:rPr dirty="0"/>
              <a:t> </a:t>
            </a:r>
            <a:r>
              <a:rPr dirty="0" err="1"/>
              <a:t>đồ</a:t>
            </a:r>
            <a:r>
              <a:rPr dirty="0"/>
              <a:t> </a:t>
            </a:r>
            <a:r>
              <a:rPr dirty="0" err="1"/>
              <a:t>án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báo cáo của nhóm đến đây là hết. Xin chân thành cảm ơn quý thầy cô và các bạn đã lắng nghe. Nhóm em xin sẵn sàng tiếp thu góp ý và giải đáp các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u2.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822960" y="1646765"/>
            <a:ext cx="10515600" cy="455509"/>
          </a:xfrm>
          <a:prstGeom prst="rect">
            <a:avLst/>
          </a:prstGeom>
          <a:noFill/>
        </p:spPr>
        <p:txBody>
          <a:bodyPr wrap="square" lIns="45720" tIns="27432" rIns="45720" bIns="27432" anchor="ctr">
            <a:spAutoFit/>
          </a:bodyPr>
          <a:lstStyle/>
          <a:p>
            <a:pPr algn="ctr">
              <a:spcAft>
                <a:spcPts val="0"/>
              </a:spcAft>
            </a:pPr>
            <a:r>
              <a:rPr sz="2600" b="1" i="0" dirty="0">
                <a:solidFill>
                  <a:srgbClr val="1A478A"/>
                </a:solidFill>
                <a:latin typeface="Arial"/>
              </a:rPr>
              <a:t>BÁO CÁO </a:t>
            </a:r>
            <a:r>
              <a:rPr sz="2600" b="1" i="0" dirty="0" smtClean="0">
                <a:solidFill>
                  <a:srgbClr val="1A478A"/>
                </a:solidFill>
                <a:latin typeface="Arial"/>
              </a:rPr>
              <a:t>ĐỒ </a:t>
            </a:r>
            <a:r>
              <a:rPr sz="2600" b="1" i="0" dirty="0">
                <a:solidFill>
                  <a:srgbClr val="1A478A"/>
                </a:solidFill>
                <a:latin typeface="Arial"/>
              </a:rPr>
              <a:t>ÁN – MÔN DỮ LIỆU LỚN (BIG DATA)</a:t>
            </a:r>
          </a:p>
        </p:txBody>
      </p:sp>
      <p:sp>
        <p:nvSpPr>
          <p:cNvPr id="4" name="TextBox 3"/>
          <p:cNvSpPr txBox="1"/>
          <p:nvPr/>
        </p:nvSpPr>
        <p:spPr>
          <a:xfrm>
            <a:off x="822960" y="2240280"/>
            <a:ext cx="10515600" cy="1188720"/>
          </a:xfrm>
          <a:prstGeom prst="rect">
            <a:avLst/>
          </a:prstGeom>
          <a:noFill/>
        </p:spPr>
        <p:txBody>
          <a:bodyPr wrap="square" lIns="45720" tIns="27432" rIns="45720" bIns="27432" anchor="ctr">
            <a:spAutoFit/>
          </a:bodyPr>
          <a:lstStyle/>
          <a:p>
            <a:pPr algn="ctr">
              <a:spcAft>
                <a:spcPts val="0"/>
              </a:spcAft>
            </a:pPr>
            <a:r>
              <a:rPr sz="4000" b="1" i="0">
                <a:solidFill>
                  <a:srgbClr val="0D2B6E"/>
                </a:solidFill>
                <a:latin typeface="Arial"/>
              </a:rPr>
              <a:t>Hệ Thống Gợi Ý Phim Trực Tuyến</a:t>
            </a:r>
          </a:p>
        </p:txBody>
      </p:sp>
      <p:sp>
        <p:nvSpPr>
          <p:cNvPr id="5" name="TextBox 4"/>
          <p:cNvSpPr txBox="1"/>
          <p:nvPr/>
        </p:nvSpPr>
        <p:spPr>
          <a:xfrm>
            <a:off x="822960" y="3246120"/>
            <a:ext cx="10515600" cy="457200"/>
          </a:xfrm>
          <a:prstGeom prst="rect">
            <a:avLst/>
          </a:prstGeom>
          <a:noFill/>
        </p:spPr>
        <p:txBody>
          <a:bodyPr wrap="square" lIns="45720" tIns="27432" rIns="45720" bIns="27432" anchor="ctr">
            <a:spAutoFit/>
          </a:bodyPr>
          <a:lstStyle/>
          <a:p>
            <a:pPr algn="ctr">
              <a:spcAft>
                <a:spcPts val="0"/>
              </a:spcAft>
            </a:pPr>
            <a:r>
              <a:rPr sz="2200" b="0" i="0">
                <a:solidFill>
                  <a:srgbClr val="555555"/>
                </a:solidFill>
                <a:latin typeface="Arial"/>
              </a:rPr>
              <a:t>Dựa trên kiến trúc Lakehouse và điện toán phân tán</a:t>
            </a:r>
          </a:p>
        </p:txBody>
      </p:sp>
      <p:sp>
        <p:nvSpPr>
          <p:cNvPr id="6" name="TextBox 5"/>
          <p:cNvSpPr txBox="1"/>
          <p:nvPr/>
        </p:nvSpPr>
        <p:spPr>
          <a:xfrm>
            <a:off x="822960" y="3840480"/>
            <a:ext cx="10515600" cy="365760"/>
          </a:xfrm>
          <a:prstGeom prst="rect">
            <a:avLst/>
          </a:prstGeom>
          <a:noFill/>
        </p:spPr>
        <p:txBody>
          <a:bodyPr wrap="square" lIns="45720" tIns="27432" rIns="45720" bIns="27432" anchor="ctr">
            <a:spAutoFit/>
          </a:bodyPr>
          <a:lstStyle/>
          <a:p>
            <a:pPr algn="ctr">
              <a:spcAft>
                <a:spcPts val="0"/>
              </a:spcAft>
            </a:pPr>
            <a:r>
              <a:rPr sz="1800" b="1" i="0" dirty="0">
                <a:solidFill>
                  <a:srgbClr val="1A1A2E"/>
                </a:solidFill>
                <a:latin typeface="Arial"/>
              </a:rPr>
              <a:t>NHÓM 2  –  GVHD: </a:t>
            </a:r>
            <a:r>
              <a:rPr sz="1800" b="1" i="0" dirty="0" err="1">
                <a:solidFill>
                  <a:srgbClr val="1A1A2E"/>
                </a:solidFill>
                <a:latin typeface="Arial"/>
              </a:rPr>
              <a:t>Huỳnh</a:t>
            </a:r>
            <a:r>
              <a:rPr sz="1800" b="1" i="0" dirty="0">
                <a:solidFill>
                  <a:srgbClr val="1A1A2E"/>
                </a:solidFill>
                <a:latin typeface="Arial"/>
              </a:rPr>
              <a:t> </a:t>
            </a:r>
            <a:r>
              <a:rPr sz="1800" b="1" i="0" dirty="0" err="1">
                <a:solidFill>
                  <a:srgbClr val="1A1A2E"/>
                </a:solidFill>
                <a:latin typeface="Arial"/>
              </a:rPr>
              <a:t>Thái</a:t>
            </a:r>
            <a:r>
              <a:rPr sz="1800" b="1" i="0" dirty="0">
                <a:solidFill>
                  <a:srgbClr val="1A1A2E"/>
                </a:solidFill>
                <a:latin typeface="Arial"/>
              </a:rPr>
              <a:t> </a:t>
            </a:r>
            <a:r>
              <a:rPr sz="1800" b="1" i="0" dirty="0" err="1">
                <a:solidFill>
                  <a:srgbClr val="1A1A2E"/>
                </a:solidFill>
                <a:latin typeface="Arial"/>
              </a:rPr>
              <a:t>Học</a:t>
            </a:r>
            <a:r>
              <a:rPr sz="1800" b="1" i="0" dirty="0">
                <a:solidFill>
                  <a:srgbClr val="1A1A2E"/>
                </a:solidFill>
                <a:latin typeface="Arial"/>
              </a:rPr>
              <a:t>  –  </a:t>
            </a:r>
            <a:r>
              <a:rPr sz="1800" b="1" i="0" dirty="0" err="1">
                <a:solidFill>
                  <a:srgbClr val="1A1A2E"/>
                </a:solidFill>
                <a:latin typeface="Arial"/>
              </a:rPr>
              <a:t>Tháng</a:t>
            </a:r>
            <a:r>
              <a:rPr sz="1800" b="1" i="0" dirty="0">
                <a:solidFill>
                  <a:srgbClr val="1A1A2E"/>
                </a:solidFill>
                <a:latin typeface="Arial"/>
              </a:rPr>
              <a:t> 10/2026</a:t>
            </a:r>
          </a:p>
        </p:txBody>
      </p:sp>
      <p:sp>
        <p:nvSpPr>
          <p:cNvPr id="7" name="TextBox 6"/>
          <p:cNvSpPr txBox="1"/>
          <p:nvPr/>
        </p:nvSpPr>
        <p:spPr>
          <a:xfrm>
            <a:off x="822960" y="4251960"/>
            <a:ext cx="10515600" cy="365760"/>
          </a:xfrm>
          <a:prstGeom prst="rect">
            <a:avLst/>
          </a:prstGeom>
          <a:noFill/>
        </p:spPr>
        <p:txBody>
          <a:bodyPr wrap="square" lIns="45720" tIns="27432" rIns="45720" bIns="27432" anchor="ctr">
            <a:spAutoFit/>
          </a:bodyPr>
          <a:lstStyle/>
          <a:p>
            <a:pPr algn="ctr">
              <a:spcAft>
                <a:spcPts val="0"/>
              </a:spcAft>
            </a:pPr>
            <a:r>
              <a:rPr sz="1400" b="0" i="0">
                <a:solidFill>
                  <a:srgbClr val="555555"/>
                </a:solidFill>
                <a:latin typeface="Arial"/>
              </a:rPr>
              <a:t>Phan Trần Hữu Duy (2001230128)  ·  Chung Tuấn Hỷ (2001230342)  ·  Đặng Thái Hoà (2001230254)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u1.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NỘI DUNG TRÌNH BÀY</a:t>
            </a:r>
          </a:p>
        </p:txBody>
      </p:sp>
      <p:sp>
        <p:nvSpPr>
          <p:cNvPr id="4" name="Oval 3"/>
          <p:cNvSpPr/>
          <p:nvPr/>
        </p:nvSpPr>
        <p:spPr>
          <a:xfrm>
            <a:off x="1188720" y="178308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01</a:t>
            </a:r>
          </a:p>
        </p:txBody>
      </p:sp>
      <p:sp>
        <p:nvSpPr>
          <p:cNvPr id="5" name="TextBox 4"/>
          <p:cNvSpPr txBox="1"/>
          <p:nvPr/>
        </p:nvSpPr>
        <p:spPr>
          <a:xfrm>
            <a:off x="1874519" y="1783080"/>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Tổng quan đề tài</a:t>
            </a:r>
          </a:p>
        </p:txBody>
      </p:sp>
      <p:sp>
        <p:nvSpPr>
          <p:cNvPr id="6" name="Oval 5"/>
          <p:cNvSpPr/>
          <p:nvPr/>
        </p:nvSpPr>
        <p:spPr>
          <a:xfrm>
            <a:off x="1188720" y="2441448"/>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02</a:t>
            </a:r>
          </a:p>
        </p:txBody>
      </p:sp>
      <p:sp>
        <p:nvSpPr>
          <p:cNvPr id="7" name="TextBox 6"/>
          <p:cNvSpPr txBox="1"/>
          <p:nvPr/>
        </p:nvSpPr>
        <p:spPr>
          <a:xfrm>
            <a:off x="1874519" y="2441448"/>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Kiến trúc hệ thống Lakehouse</a:t>
            </a:r>
          </a:p>
        </p:txBody>
      </p:sp>
      <p:sp>
        <p:nvSpPr>
          <p:cNvPr id="8" name="Oval 7"/>
          <p:cNvSpPr/>
          <p:nvPr/>
        </p:nvSpPr>
        <p:spPr>
          <a:xfrm>
            <a:off x="1188720" y="3099815"/>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03</a:t>
            </a:r>
          </a:p>
        </p:txBody>
      </p:sp>
      <p:sp>
        <p:nvSpPr>
          <p:cNvPr id="9" name="TextBox 8"/>
          <p:cNvSpPr txBox="1"/>
          <p:nvPr/>
        </p:nvSpPr>
        <p:spPr>
          <a:xfrm>
            <a:off x="1874519" y="3099815"/>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Lưu trữ phân tán: HDFS và tầng Bronze</a:t>
            </a:r>
          </a:p>
        </p:txBody>
      </p:sp>
      <p:sp>
        <p:nvSpPr>
          <p:cNvPr id="10" name="Oval 9"/>
          <p:cNvSpPr/>
          <p:nvPr/>
        </p:nvSpPr>
        <p:spPr>
          <a:xfrm>
            <a:off x="1188720" y="3758184"/>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04</a:t>
            </a:r>
          </a:p>
        </p:txBody>
      </p:sp>
      <p:sp>
        <p:nvSpPr>
          <p:cNvPr id="11" name="TextBox 10"/>
          <p:cNvSpPr txBox="1"/>
          <p:nvPr/>
        </p:nvSpPr>
        <p:spPr>
          <a:xfrm>
            <a:off x="1874519" y="3758184"/>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Xử lý theo lô: PySpark, tầng Silver, Spark SQL</a:t>
            </a:r>
          </a:p>
        </p:txBody>
      </p:sp>
      <p:sp>
        <p:nvSpPr>
          <p:cNvPr id="12" name="Oval 11"/>
          <p:cNvSpPr/>
          <p:nvPr/>
        </p:nvSpPr>
        <p:spPr>
          <a:xfrm>
            <a:off x="1188720" y="4416552"/>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05</a:t>
            </a:r>
          </a:p>
        </p:txBody>
      </p:sp>
      <p:sp>
        <p:nvSpPr>
          <p:cNvPr id="13" name="TextBox 12"/>
          <p:cNvSpPr txBox="1"/>
          <p:nvPr/>
        </p:nvSpPr>
        <p:spPr>
          <a:xfrm>
            <a:off x="1874519" y="4416552"/>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Học máy gợi ý ALS và tầng Gold</a:t>
            </a:r>
          </a:p>
        </p:txBody>
      </p:sp>
      <p:sp>
        <p:nvSpPr>
          <p:cNvPr id="14" name="Oval 13"/>
          <p:cNvSpPr/>
          <p:nvPr/>
        </p:nvSpPr>
        <p:spPr>
          <a:xfrm>
            <a:off x="1188720" y="507492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06</a:t>
            </a:r>
          </a:p>
        </p:txBody>
      </p:sp>
      <p:sp>
        <p:nvSpPr>
          <p:cNvPr id="15" name="TextBox 14"/>
          <p:cNvSpPr txBox="1"/>
          <p:nvPr/>
        </p:nvSpPr>
        <p:spPr>
          <a:xfrm>
            <a:off x="1874519" y="5074920"/>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Streaming Kafka, Airflow và giao diện FastAPI</a:t>
            </a:r>
          </a:p>
        </p:txBody>
      </p:sp>
      <p:sp>
        <p:nvSpPr>
          <p:cNvPr id="16" name="Oval 15"/>
          <p:cNvSpPr/>
          <p:nvPr/>
        </p:nvSpPr>
        <p:spPr>
          <a:xfrm>
            <a:off x="1188720" y="5733288"/>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07</a:t>
            </a:r>
          </a:p>
        </p:txBody>
      </p:sp>
      <p:sp>
        <p:nvSpPr>
          <p:cNvPr id="17" name="TextBox 16"/>
          <p:cNvSpPr txBox="1"/>
          <p:nvPr/>
        </p:nvSpPr>
        <p:spPr>
          <a:xfrm>
            <a:off x="1874519" y="5733288"/>
            <a:ext cx="8686800" cy="457200"/>
          </a:xfrm>
          <a:prstGeom prst="rect">
            <a:avLst/>
          </a:prstGeom>
          <a:noFill/>
        </p:spPr>
        <p:txBody>
          <a:bodyPr wrap="square" lIns="0" tIns="27432" rIns="0" bIns="27432" anchor="ctr">
            <a:spAutoFit/>
          </a:bodyPr>
          <a:lstStyle/>
          <a:p>
            <a:pPr algn="l">
              <a:spcAft>
                <a:spcPts val="0"/>
              </a:spcAft>
            </a:pPr>
            <a:r>
              <a:rPr sz="2000" b="0" i="0">
                <a:solidFill>
                  <a:srgbClr val="1A1A2E"/>
                </a:solidFill>
                <a:latin typeface="Arial"/>
              </a:rPr>
              <a:t>Tổng hợp tiến độ, khó khăn và kết luận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MỤC TIÊU ĐỀ TÀI</a:t>
            </a:r>
          </a:p>
        </p:txBody>
      </p:sp>
      <p:sp>
        <p:nvSpPr>
          <p:cNvPr id="4" name="Rounded Rectangle 3"/>
          <p:cNvSpPr/>
          <p:nvPr/>
        </p:nvSpPr>
        <p:spPr>
          <a:xfrm>
            <a:off x="685800" y="173736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96596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1</a:t>
            </a:r>
          </a:p>
        </p:txBody>
      </p:sp>
      <p:sp>
        <p:nvSpPr>
          <p:cNvPr id="6" name="TextBox 5"/>
          <p:cNvSpPr txBox="1"/>
          <p:nvPr/>
        </p:nvSpPr>
        <p:spPr>
          <a:xfrm>
            <a:off x="1508760" y="196596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Lưu trữ phân tán</a:t>
            </a:r>
          </a:p>
        </p:txBody>
      </p:sp>
      <p:sp>
        <p:nvSpPr>
          <p:cNvPr id="7" name="TextBox 6"/>
          <p:cNvSpPr txBox="1"/>
          <p:nvPr/>
        </p:nvSpPr>
        <p:spPr>
          <a:xfrm>
            <a:off x="914400" y="2606039"/>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Kho dữ liệu theo mô hình Medallion (Bronze, Silver, Gold) trên Apache Hadoop HDFS.</a:t>
            </a:r>
          </a:p>
        </p:txBody>
      </p:sp>
      <p:sp>
        <p:nvSpPr>
          <p:cNvPr id="8" name="Rounded Rectangle 7"/>
          <p:cNvSpPr/>
          <p:nvPr/>
        </p:nvSpPr>
        <p:spPr>
          <a:xfrm>
            <a:off x="4389120" y="173736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17720" y="196596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2</a:t>
            </a:r>
          </a:p>
        </p:txBody>
      </p:sp>
      <p:sp>
        <p:nvSpPr>
          <p:cNvPr id="10" name="TextBox 9"/>
          <p:cNvSpPr txBox="1"/>
          <p:nvPr/>
        </p:nvSpPr>
        <p:spPr>
          <a:xfrm>
            <a:off x="5212080" y="196596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Xử lý theo lô</a:t>
            </a:r>
          </a:p>
        </p:txBody>
      </p:sp>
      <p:sp>
        <p:nvSpPr>
          <p:cNvPr id="11" name="TextBox 10"/>
          <p:cNvSpPr txBox="1"/>
          <p:nvPr/>
        </p:nvSpPr>
        <p:spPr>
          <a:xfrm>
            <a:off x="4617720" y="2606039"/>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PySpark làm sạch, trích xuất đặc trưng, chuyển CSV sang Parquet nén Snappy.</a:t>
            </a:r>
          </a:p>
        </p:txBody>
      </p:sp>
      <p:sp>
        <p:nvSpPr>
          <p:cNvPr id="12" name="Rounded Rectangle 11"/>
          <p:cNvSpPr/>
          <p:nvPr/>
        </p:nvSpPr>
        <p:spPr>
          <a:xfrm>
            <a:off x="8092440" y="173736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21040" y="196596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3</a:t>
            </a:r>
          </a:p>
        </p:txBody>
      </p:sp>
      <p:sp>
        <p:nvSpPr>
          <p:cNvPr id="14" name="TextBox 13"/>
          <p:cNvSpPr txBox="1"/>
          <p:nvPr/>
        </p:nvSpPr>
        <p:spPr>
          <a:xfrm>
            <a:off x="8915400" y="196596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Học máy phân tán</a:t>
            </a:r>
          </a:p>
        </p:txBody>
      </p:sp>
      <p:sp>
        <p:nvSpPr>
          <p:cNvPr id="15" name="TextBox 14"/>
          <p:cNvSpPr txBox="1"/>
          <p:nvPr/>
        </p:nvSpPr>
        <p:spPr>
          <a:xfrm>
            <a:off x="8321040" y="2606039"/>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Spark MLlib với thuật toán ALS sinh Top 5 phim gợi ý cho từng người dùng.</a:t>
            </a:r>
          </a:p>
        </p:txBody>
      </p:sp>
      <p:sp>
        <p:nvSpPr>
          <p:cNvPr id="16" name="Rounded Rectangle 15"/>
          <p:cNvSpPr/>
          <p:nvPr/>
        </p:nvSpPr>
        <p:spPr>
          <a:xfrm>
            <a:off x="685800" y="411480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4400" y="434340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4</a:t>
            </a:r>
          </a:p>
        </p:txBody>
      </p:sp>
      <p:sp>
        <p:nvSpPr>
          <p:cNvPr id="18" name="TextBox 17"/>
          <p:cNvSpPr txBox="1"/>
          <p:nvPr/>
        </p:nvSpPr>
        <p:spPr>
          <a:xfrm>
            <a:off x="1508760" y="434340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Xử lý thời gian thực</a:t>
            </a:r>
          </a:p>
        </p:txBody>
      </p:sp>
      <p:sp>
        <p:nvSpPr>
          <p:cNvPr id="19" name="TextBox 18"/>
          <p:cNvSpPr txBox="1"/>
          <p:nvPr/>
        </p:nvSpPr>
        <p:spPr>
          <a:xfrm>
            <a:off x="914400" y="4983480"/>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Kafka và Spark Structured Streaming thu nhận luồng log tương tác.</a:t>
            </a:r>
          </a:p>
        </p:txBody>
      </p:sp>
      <p:sp>
        <p:nvSpPr>
          <p:cNvPr id="20" name="Rounded Rectangle 19"/>
          <p:cNvSpPr/>
          <p:nvPr/>
        </p:nvSpPr>
        <p:spPr>
          <a:xfrm>
            <a:off x="4389120" y="411480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617720" y="434340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5</a:t>
            </a:r>
          </a:p>
        </p:txBody>
      </p:sp>
      <p:sp>
        <p:nvSpPr>
          <p:cNvPr id="22" name="TextBox 21"/>
          <p:cNvSpPr txBox="1"/>
          <p:nvPr/>
        </p:nvSpPr>
        <p:spPr>
          <a:xfrm>
            <a:off x="5212080" y="434340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Điều phối tự động</a:t>
            </a:r>
          </a:p>
        </p:txBody>
      </p:sp>
      <p:sp>
        <p:nvSpPr>
          <p:cNvPr id="23" name="TextBox 22"/>
          <p:cNvSpPr txBox="1"/>
          <p:nvPr/>
        </p:nvSpPr>
        <p:spPr>
          <a:xfrm>
            <a:off x="4617720" y="4983480"/>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Apache Airflow tự động hóa lịch chạy định kỳ của pipeline.</a:t>
            </a:r>
          </a:p>
        </p:txBody>
      </p:sp>
      <p:sp>
        <p:nvSpPr>
          <p:cNvPr id="24" name="Rounded Rectangle 23"/>
          <p:cNvSpPr/>
          <p:nvPr/>
        </p:nvSpPr>
        <p:spPr>
          <a:xfrm>
            <a:off x="8092440" y="4114800"/>
            <a:ext cx="3429000" cy="21031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321040" y="4343400"/>
            <a:ext cx="457200" cy="457200"/>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6</a:t>
            </a:r>
          </a:p>
        </p:txBody>
      </p:sp>
      <p:sp>
        <p:nvSpPr>
          <p:cNvPr id="26" name="TextBox 25"/>
          <p:cNvSpPr txBox="1"/>
          <p:nvPr/>
        </p:nvSpPr>
        <p:spPr>
          <a:xfrm>
            <a:off x="8915400" y="4343400"/>
            <a:ext cx="2423160" cy="457200"/>
          </a:xfrm>
          <a:prstGeom prst="rect">
            <a:avLst/>
          </a:prstGeom>
          <a:noFill/>
        </p:spPr>
        <p:txBody>
          <a:bodyPr wrap="square" lIns="0" tIns="27432" rIns="0" bIns="27432" anchor="ctr">
            <a:spAutoFit/>
          </a:bodyPr>
          <a:lstStyle/>
          <a:p>
            <a:pPr algn="l">
              <a:spcAft>
                <a:spcPts val="0"/>
              </a:spcAft>
            </a:pPr>
            <a:r>
              <a:rPr sz="1800" b="1" i="0">
                <a:solidFill>
                  <a:srgbClr val="0D2B6E"/>
                </a:solidFill>
                <a:latin typeface="Arial"/>
              </a:rPr>
              <a:t>Phục vụ dữ liệu</a:t>
            </a:r>
          </a:p>
        </p:txBody>
      </p:sp>
      <p:sp>
        <p:nvSpPr>
          <p:cNvPr id="27" name="TextBox 26"/>
          <p:cNvSpPr txBox="1"/>
          <p:nvPr/>
        </p:nvSpPr>
        <p:spPr>
          <a:xfrm>
            <a:off x="8321040" y="4983480"/>
            <a:ext cx="2971800" cy="1143000"/>
          </a:xfrm>
          <a:prstGeom prst="rect">
            <a:avLst/>
          </a:prstGeom>
          <a:noFill/>
        </p:spPr>
        <p:txBody>
          <a:bodyPr wrap="square" lIns="0" tIns="27432" rIns="0" bIns="27432" anchor="t">
            <a:spAutoFit/>
          </a:bodyPr>
          <a:lstStyle/>
          <a:p>
            <a:pPr algn="l">
              <a:spcAft>
                <a:spcPts val="0"/>
              </a:spcAft>
            </a:pPr>
            <a:r>
              <a:rPr sz="1600" b="0" i="0">
                <a:solidFill>
                  <a:srgbClr val="1A1A2E"/>
                </a:solidFill>
                <a:latin typeface="Arial"/>
              </a:rPr>
              <a:t>Giao diện web FastAPI kết nối HDFS để trực quan hóa dữ liệu.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BỘ DỮ LIỆU SỬ DỤNG</a:t>
            </a:r>
          </a:p>
        </p:txBody>
      </p:sp>
      <p:sp>
        <p:nvSpPr>
          <p:cNvPr id="4" name="Rounded Rectangle 3"/>
          <p:cNvSpPr/>
          <p:nvPr/>
        </p:nvSpPr>
        <p:spPr>
          <a:xfrm>
            <a:off x="685800" y="1737360"/>
            <a:ext cx="2503170" cy="141732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47088"/>
            <a:ext cx="2320289" cy="708660"/>
          </a:xfrm>
          <a:prstGeom prst="rect">
            <a:avLst/>
          </a:prstGeom>
          <a:noFill/>
        </p:spPr>
        <p:txBody>
          <a:bodyPr wrap="square" lIns="0" tIns="27432" rIns="0" bIns="27432" anchor="ctr">
            <a:spAutoFit/>
          </a:bodyPr>
          <a:lstStyle/>
          <a:p>
            <a:pPr algn="ctr">
              <a:spcAft>
                <a:spcPts val="0"/>
              </a:spcAft>
            </a:pPr>
            <a:r>
              <a:rPr sz="3000" b="1" i="0">
                <a:solidFill>
                  <a:srgbClr val="FFFFFF"/>
                </a:solidFill>
                <a:latin typeface="Arial"/>
              </a:rPr>
              <a:t>25.000.000</a:t>
            </a:r>
          </a:p>
        </p:txBody>
      </p:sp>
      <p:sp>
        <p:nvSpPr>
          <p:cNvPr id="6" name="TextBox 5"/>
          <p:cNvSpPr txBox="1"/>
          <p:nvPr/>
        </p:nvSpPr>
        <p:spPr>
          <a:xfrm>
            <a:off x="777240" y="2559405"/>
            <a:ext cx="2320289" cy="538581"/>
          </a:xfrm>
          <a:prstGeom prst="rect">
            <a:avLst/>
          </a:prstGeom>
          <a:noFill/>
        </p:spPr>
        <p:txBody>
          <a:bodyPr wrap="square" lIns="0" tIns="27432" rIns="0" bIns="27432" anchor="t">
            <a:spAutoFit/>
          </a:bodyPr>
          <a:lstStyle/>
          <a:p>
            <a:pPr algn="ctr">
              <a:spcAft>
                <a:spcPts val="0"/>
              </a:spcAft>
            </a:pPr>
            <a:r>
              <a:rPr sz="1400" b="0" i="0">
                <a:solidFill>
                  <a:srgbClr val="FFFFFF"/>
                </a:solidFill>
                <a:latin typeface="Arial"/>
              </a:rPr>
              <a:t>lượt đánh giá</a:t>
            </a:r>
          </a:p>
        </p:txBody>
      </p:sp>
      <p:sp>
        <p:nvSpPr>
          <p:cNvPr id="7" name="Rounded Rectangle 6"/>
          <p:cNvSpPr/>
          <p:nvPr/>
        </p:nvSpPr>
        <p:spPr>
          <a:xfrm>
            <a:off x="3463289" y="1737360"/>
            <a:ext cx="2503170" cy="14173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54729" y="1847088"/>
            <a:ext cx="2320289" cy="708660"/>
          </a:xfrm>
          <a:prstGeom prst="rect">
            <a:avLst/>
          </a:prstGeom>
          <a:noFill/>
        </p:spPr>
        <p:txBody>
          <a:bodyPr wrap="square" lIns="0" tIns="27432" rIns="0" bIns="27432" anchor="ctr">
            <a:spAutoFit/>
          </a:bodyPr>
          <a:lstStyle/>
          <a:p>
            <a:pPr algn="ctr">
              <a:spcAft>
                <a:spcPts val="0"/>
              </a:spcAft>
            </a:pPr>
            <a:r>
              <a:rPr sz="3000" b="1" i="0">
                <a:solidFill>
                  <a:srgbClr val="1A478A"/>
                </a:solidFill>
                <a:latin typeface="Arial"/>
              </a:rPr>
              <a:t>62.423</a:t>
            </a:r>
          </a:p>
        </p:txBody>
      </p:sp>
      <p:sp>
        <p:nvSpPr>
          <p:cNvPr id="9" name="TextBox 8"/>
          <p:cNvSpPr txBox="1"/>
          <p:nvPr/>
        </p:nvSpPr>
        <p:spPr>
          <a:xfrm>
            <a:off x="3554729" y="2559405"/>
            <a:ext cx="2320289" cy="538581"/>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bộ phim</a:t>
            </a:r>
          </a:p>
        </p:txBody>
      </p:sp>
      <p:sp>
        <p:nvSpPr>
          <p:cNvPr id="10" name="Rounded Rectangle 9"/>
          <p:cNvSpPr/>
          <p:nvPr/>
        </p:nvSpPr>
        <p:spPr>
          <a:xfrm>
            <a:off x="6240779" y="1737360"/>
            <a:ext cx="2503170" cy="14173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2219" y="1847088"/>
            <a:ext cx="2320289" cy="708660"/>
          </a:xfrm>
          <a:prstGeom prst="rect">
            <a:avLst/>
          </a:prstGeom>
          <a:noFill/>
        </p:spPr>
        <p:txBody>
          <a:bodyPr wrap="square" lIns="0" tIns="27432" rIns="0" bIns="27432" anchor="ctr">
            <a:spAutoFit/>
          </a:bodyPr>
          <a:lstStyle/>
          <a:p>
            <a:pPr algn="ctr">
              <a:spcAft>
                <a:spcPts val="0"/>
              </a:spcAft>
            </a:pPr>
            <a:r>
              <a:rPr sz="3000" b="1" i="0">
                <a:solidFill>
                  <a:srgbClr val="1A478A"/>
                </a:solidFill>
                <a:latin typeface="Arial"/>
              </a:rPr>
              <a:t>162.541</a:t>
            </a:r>
          </a:p>
        </p:txBody>
      </p:sp>
      <p:sp>
        <p:nvSpPr>
          <p:cNvPr id="12" name="TextBox 11"/>
          <p:cNvSpPr txBox="1"/>
          <p:nvPr/>
        </p:nvSpPr>
        <p:spPr>
          <a:xfrm>
            <a:off x="6332219" y="2559405"/>
            <a:ext cx="2320289" cy="538581"/>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người dùng</a:t>
            </a:r>
          </a:p>
        </p:txBody>
      </p:sp>
      <p:sp>
        <p:nvSpPr>
          <p:cNvPr id="13" name="Rounded Rectangle 12"/>
          <p:cNvSpPr/>
          <p:nvPr/>
        </p:nvSpPr>
        <p:spPr>
          <a:xfrm>
            <a:off x="9018269" y="1737360"/>
            <a:ext cx="2503170" cy="14173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09709" y="1847088"/>
            <a:ext cx="2320289" cy="708660"/>
          </a:xfrm>
          <a:prstGeom prst="rect">
            <a:avLst/>
          </a:prstGeom>
          <a:noFill/>
        </p:spPr>
        <p:txBody>
          <a:bodyPr wrap="square" lIns="0" tIns="27432" rIns="0" bIns="27432" anchor="ctr">
            <a:spAutoFit/>
          </a:bodyPr>
          <a:lstStyle/>
          <a:p>
            <a:pPr algn="ctr">
              <a:spcAft>
                <a:spcPts val="0"/>
              </a:spcAft>
            </a:pPr>
            <a:r>
              <a:rPr sz="3000" b="1" i="0">
                <a:solidFill>
                  <a:srgbClr val="1A478A"/>
                </a:solidFill>
                <a:latin typeface="Arial"/>
              </a:rPr>
              <a:t>1.000.000</a:t>
            </a:r>
          </a:p>
        </p:txBody>
      </p:sp>
      <p:sp>
        <p:nvSpPr>
          <p:cNvPr id="15" name="TextBox 14"/>
          <p:cNvSpPr txBox="1"/>
          <p:nvPr/>
        </p:nvSpPr>
        <p:spPr>
          <a:xfrm>
            <a:off x="9109709" y="2559405"/>
            <a:ext cx="2320289" cy="538581"/>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tag</a:t>
            </a:r>
          </a:p>
        </p:txBody>
      </p:sp>
      <p:sp>
        <p:nvSpPr>
          <p:cNvPr id="16" name="Rounded Rectangle 15"/>
          <p:cNvSpPr/>
          <p:nvPr/>
        </p:nvSpPr>
        <p:spPr>
          <a:xfrm>
            <a:off x="685800" y="3429000"/>
            <a:ext cx="5280659" cy="28346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566160"/>
            <a:ext cx="4823459"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MovieLens 25M (GroupLens Research)</a:t>
            </a:r>
          </a:p>
        </p:txBody>
      </p:sp>
      <p:sp>
        <p:nvSpPr>
          <p:cNvPr id="18" name="TextBox 17"/>
          <p:cNvSpPr txBox="1"/>
          <p:nvPr/>
        </p:nvSpPr>
        <p:spPr>
          <a:xfrm>
            <a:off x="914400" y="4114800"/>
            <a:ext cx="4823459" cy="2103120"/>
          </a:xfrm>
          <a:prstGeom prst="rect">
            <a:avLst/>
          </a:prstGeom>
          <a:noFill/>
        </p:spPr>
        <p:txBody>
          <a:bodyPr wrap="square" lIns="0" tIns="27432" rIns="0" bIns="27432" anchor="t">
            <a:spAutoFit/>
          </a:bodyPr>
          <a:lstStyle/>
          <a:p>
            <a:pPr marL="201168" indent="-201168" algn="l">
              <a:spcAft>
                <a:spcPts val="1000"/>
              </a:spcAft>
              <a:buClr>
                <a:srgbClr val="4472C4"/>
              </a:buClr>
              <a:buFont typeface="Arial"/>
              <a:buChar char="•"/>
            </a:pPr>
            <a:r>
              <a:rPr sz="1600" b="1" i="0">
                <a:solidFill>
                  <a:srgbClr val="1A1A2E"/>
                </a:solidFill>
                <a:latin typeface="Arial"/>
              </a:rPr>
              <a:t>movies.csv: </a:t>
            </a:r>
            <a:r>
              <a:rPr sz="1600" b="0" i="0">
                <a:solidFill>
                  <a:srgbClr val="1A1A2E"/>
                </a:solidFill>
                <a:latin typeface="Arial"/>
              </a:rPr>
              <a:t>movieId, title, genres</a:t>
            </a:r>
          </a:p>
          <a:p>
            <a:pPr marL="201168" indent="-201168" algn="l">
              <a:spcAft>
                <a:spcPts val="1000"/>
              </a:spcAft>
              <a:buClr>
                <a:srgbClr val="4472C4"/>
              </a:buClr>
              <a:buFont typeface="Arial"/>
              <a:buChar char="•"/>
            </a:pPr>
            <a:r>
              <a:rPr sz="1600" b="1" i="0">
                <a:solidFill>
                  <a:srgbClr val="1A1A2E"/>
                </a:solidFill>
                <a:latin typeface="Arial"/>
              </a:rPr>
              <a:t>ratings.csv: </a:t>
            </a:r>
            <a:r>
              <a:rPr sz="1600" b="0" i="0">
                <a:solidFill>
                  <a:srgbClr val="1A1A2E"/>
                </a:solidFill>
                <a:latin typeface="Arial"/>
              </a:rPr>
              <a:t>userId, movieId, rating, timestamp</a:t>
            </a:r>
          </a:p>
          <a:p>
            <a:pPr marL="201168" indent="-201168" algn="l">
              <a:spcAft>
                <a:spcPts val="1000"/>
              </a:spcAft>
              <a:buClr>
                <a:srgbClr val="4472C4"/>
              </a:buClr>
              <a:buFont typeface="Arial"/>
              <a:buChar char="•"/>
            </a:pPr>
            <a:r>
              <a:rPr sz="1600" b="1" i="0">
                <a:solidFill>
                  <a:srgbClr val="1A1A2E"/>
                </a:solidFill>
                <a:latin typeface="Arial"/>
              </a:rPr>
              <a:t>links.csv: </a:t>
            </a:r>
            <a:r>
              <a:rPr sz="1600" b="0" i="0">
                <a:solidFill>
                  <a:srgbClr val="1A1A2E"/>
                </a:solidFill>
                <a:latin typeface="Arial"/>
              </a:rPr>
              <a:t>movieId, imdbId, tmdbId</a:t>
            </a:r>
          </a:p>
        </p:txBody>
      </p:sp>
      <p:sp>
        <p:nvSpPr>
          <p:cNvPr id="19" name="Rounded Rectangle 18"/>
          <p:cNvSpPr/>
          <p:nvPr/>
        </p:nvSpPr>
        <p:spPr>
          <a:xfrm>
            <a:off x="6240779" y="3429000"/>
            <a:ext cx="5280659" cy="28346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9379" y="3566160"/>
            <a:ext cx="4823459"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The Movies Dataset (Kaggle)</a:t>
            </a:r>
          </a:p>
        </p:txBody>
      </p:sp>
      <p:sp>
        <p:nvSpPr>
          <p:cNvPr id="21" name="TextBox 20"/>
          <p:cNvSpPr txBox="1"/>
          <p:nvPr/>
        </p:nvSpPr>
        <p:spPr>
          <a:xfrm>
            <a:off x="6469379" y="4114800"/>
            <a:ext cx="4823459" cy="2103120"/>
          </a:xfrm>
          <a:prstGeom prst="rect">
            <a:avLst/>
          </a:prstGeom>
          <a:noFill/>
        </p:spPr>
        <p:txBody>
          <a:bodyPr wrap="square" lIns="0" tIns="27432" rIns="0" bIns="27432" anchor="t">
            <a:spAutoFit/>
          </a:bodyPr>
          <a:lstStyle/>
          <a:p>
            <a:pPr marL="201168" indent="-201168" algn="l">
              <a:spcAft>
                <a:spcPts val="1000"/>
              </a:spcAft>
              <a:buClr>
                <a:srgbClr val="4472C4"/>
              </a:buClr>
              <a:buFont typeface="Arial"/>
              <a:buChar char="•"/>
            </a:pPr>
            <a:r>
              <a:rPr sz="1600" b="0" i="0">
                <a:solidFill>
                  <a:srgbClr val="1A1A2E"/>
                </a:solidFill>
                <a:latin typeface="Arial"/>
              </a:rPr>
              <a:t>Bổ sung thông tin chi tiết về phim qua movies_metadata.csv và credits.csv</a:t>
            </a:r>
          </a:p>
          <a:p>
            <a:pPr marL="201168" indent="-201168" algn="l">
              <a:spcAft>
                <a:spcPts val="1000"/>
              </a:spcAft>
              <a:buClr>
                <a:srgbClr val="4472C4"/>
              </a:buClr>
              <a:buFont typeface="Arial"/>
              <a:buChar char="•"/>
            </a:pPr>
            <a:r>
              <a:rPr sz="1600" b="0" i="0">
                <a:solidFill>
                  <a:srgbClr val="1A1A2E"/>
                </a:solidFill>
                <a:latin typeface="Arial"/>
              </a:rPr>
              <a:t>Mô tả nội dung (overview), điểm TMDB (vote_average)</a:t>
            </a:r>
          </a:p>
          <a:p>
            <a:pPr marL="201168" indent="-201168" algn="l">
              <a:spcAft>
                <a:spcPts val="1000"/>
              </a:spcAft>
              <a:buClr>
                <a:srgbClr val="4472C4"/>
              </a:buClr>
              <a:buFont typeface="Arial"/>
              <a:buChar char="•"/>
            </a:pPr>
            <a:r>
              <a:rPr sz="1600" b="0" i="0">
                <a:solidFill>
                  <a:srgbClr val="1A1A2E"/>
                </a:solidFill>
                <a:latin typeface="Arial"/>
              </a:rPr>
              <a:t>Kinh phí (budget), ngày phát hành (release_date)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MÔI TRƯỜNG THỰC NGHIỆM</a:t>
            </a:r>
          </a:p>
        </p:txBody>
      </p:sp>
      <p:sp>
        <p:nvSpPr>
          <p:cNvPr id="4" name="Rounded Rectangle 3"/>
          <p:cNvSpPr/>
          <p:nvPr/>
        </p:nvSpPr>
        <p:spPr>
          <a:xfrm>
            <a:off x="685800" y="1783080"/>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01168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Hệ điều hành</a:t>
            </a:r>
          </a:p>
        </p:txBody>
      </p:sp>
      <p:sp>
        <p:nvSpPr>
          <p:cNvPr id="6" name="TextBox 5"/>
          <p:cNvSpPr txBox="1"/>
          <p:nvPr/>
        </p:nvSpPr>
        <p:spPr>
          <a:xfrm>
            <a:off x="868680" y="2514600"/>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Ubuntu 26.04 (WSL2)</a:t>
            </a:r>
          </a:p>
        </p:txBody>
      </p:sp>
      <p:sp>
        <p:nvSpPr>
          <p:cNvPr id="7" name="Rounded Rectangle 6"/>
          <p:cNvSpPr/>
          <p:nvPr/>
        </p:nvSpPr>
        <p:spPr>
          <a:xfrm>
            <a:off x="3463289" y="1783080"/>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46170" y="201168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Ngôn ngữ</a:t>
            </a:r>
          </a:p>
        </p:txBody>
      </p:sp>
      <p:sp>
        <p:nvSpPr>
          <p:cNvPr id="9" name="TextBox 8"/>
          <p:cNvSpPr txBox="1"/>
          <p:nvPr/>
        </p:nvSpPr>
        <p:spPr>
          <a:xfrm>
            <a:off x="3646170" y="2514600"/>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Python 3.14</a:t>
            </a:r>
          </a:p>
        </p:txBody>
      </p:sp>
      <p:sp>
        <p:nvSpPr>
          <p:cNvPr id="10" name="Rounded Rectangle 9"/>
          <p:cNvSpPr/>
          <p:nvPr/>
        </p:nvSpPr>
        <p:spPr>
          <a:xfrm>
            <a:off x="6240779" y="1783080"/>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3659" y="201168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Java</a:t>
            </a:r>
          </a:p>
        </p:txBody>
      </p:sp>
      <p:sp>
        <p:nvSpPr>
          <p:cNvPr id="12" name="TextBox 11"/>
          <p:cNvSpPr txBox="1"/>
          <p:nvPr/>
        </p:nvSpPr>
        <p:spPr>
          <a:xfrm>
            <a:off x="6423659" y="2514600"/>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OpenJDK 8</a:t>
            </a:r>
          </a:p>
        </p:txBody>
      </p:sp>
      <p:sp>
        <p:nvSpPr>
          <p:cNvPr id="13" name="Rounded Rectangle 12"/>
          <p:cNvSpPr/>
          <p:nvPr/>
        </p:nvSpPr>
        <p:spPr>
          <a:xfrm>
            <a:off x="9018269" y="1783080"/>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01149" y="201168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Lưu trữ phân tán</a:t>
            </a:r>
          </a:p>
        </p:txBody>
      </p:sp>
      <p:sp>
        <p:nvSpPr>
          <p:cNvPr id="15" name="TextBox 14"/>
          <p:cNvSpPr txBox="1"/>
          <p:nvPr/>
        </p:nvSpPr>
        <p:spPr>
          <a:xfrm>
            <a:off x="9201149" y="2514600"/>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Hadoop 3.3.6</a:t>
            </a:r>
          </a:p>
        </p:txBody>
      </p:sp>
      <p:sp>
        <p:nvSpPr>
          <p:cNvPr id="16" name="Rounded Rectangle 15"/>
          <p:cNvSpPr/>
          <p:nvPr/>
        </p:nvSpPr>
        <p:spPr>
          <a:xfrm>
            <a:off x="685800" y="3977639"/>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20624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Xử lý và học máy</a:t>
            </a:r>
          </a:p>
        </p:txBody>
      </p:sp>
      <p:sp>
        <p:nvSpPr>
          <p:cNvPr id="18" name="TextBox 17"/>
          <p:cNvSpPr txBox="1"/>
          <p:nvPr/>
        </p:nvSpPr>
        <p:spPr>
          <a:xfrm>
            <a:off x="868680" y="4709159"/>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PySpark 3.5.1</a:t>
            </a:r>
          </a:p>
        </p:txBody>
      </p:sp>
      <p:sp>
        <p:nvSpPr>
          <p:cNvPr id="19" name="Rounded Rectangle 18"/>
          <p:cNvSpPr/>
          <p:nvPr/>
        </p:nvSpPr>
        <p:spPr>
          <a:xfrm>
            <a:off x="3463289" y="3977639"/>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46170" y="420624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Streaming</a:t>
            </a:r>
          </a:p>
        </p:txBody>
      </p:sp>
      <p:sp>
        <p:nvSpPr>
          <p:cNvPr id="21" name="TextBox 20"/>
          <p:cNvSpPr txBox="1"/>
          <p:nvPr/>
        </p:nvSpPr>
        <p:spPr>
          <a:xfrm>
            <a:off x="3646170" y="4709159"/>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Apache Kafka 3.6.2 (KRaft)</a:t>
            </a:r>
          </a:p>
        </p:txBody>
      </p:sp>
      <p:sp>
        <p:nvSpPr>
          <p:cNvPr id="22" name="Rounded Rectangle 21"/>
          <p:cNvSpPr/>
          <p:nvPr/>
        </p:nvSpPr>
        <p:spPr>
          <a:xfrm>
            <a:off x="6240779" y="3977639"/>
            <a:ext cx="2503170" cy="19202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3659" y="4206240"/>
            <a:ext cx="2137410" cy="36576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Điều phối</a:t>
            </a:r>
          </a:p>
        </p:txBody>
      </p:sp>
      <p:sp>
        <p:nvSpPr>
          <p:cNvPr id="24" name="TextBox 23"/>
          <p:cNvSpPr txBox="1"/>
          <p:nvPr/>
        </p:nvSpPr>
        <p:spPr>
          <a:xfrm>
            <a:off x="6423659" y="4709159"/>
            <a:ext cx="2137410" cy="1005840"/>
          </a:xfrm>
          <a:prstGeom prst="rect">
            <a:avLst/>
          </a:prstGeom>
          <a:noFill/>
        </p:spPr>
        <p:txBody>
          <a:bodyPr wrap="square" lIns="0" tIns="27432" rIns="0" bIns="27432" anchor="t">
            <a:spAutoFit/>
          </a:bodyPr>
          <a:lstStyle/>
          <a:p>
            <a:pPr algn="l">
              <a:spcAft>
                <a:spcPts val="0"/>
              </a:spcAft>
            </a:pPr>
            <a:r>
              <a:rPr sz="2000" b="1" i="0">
                <a:solidFill>
                  <a:srgbClr val="1A478A"/>
                </a:solidFill>
                <a:latin typeface="Arial"/>
              </a:rPr>
              <a:t>Apache Airflow 3.3.2</a:t>
            </a:r>
          </a:p>
        </p:txBody>
      </p:sp>
      <p:sp>
        <p:nvSpPr>
          <p:cNvPr id="25" name="Rounded Rectangle 24"/>
          <p:cNvSpPr/>
          <p:nvPr/>
        </p:nvSpPr>
        <p:spPr>
          <a:xfrm>
            <a:off x="9018269" y="3977639"/>
            <a:ext cx="2503170" cy="1920240"/>
          </a:xfrm>
          <a:prstGeom prst="roundRect">
            <a:avLst>
              <a:gd name="adj" fmla="val 6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01149" y="4206240"/>
            <a:ext cx="2137410" cy="365760"/>
          </a:xfrm>
          <a:prstGeom prst="rect">
            <a:avLst/>
          </a:prstGeom>
          <a:noFill/>
        </p:spPr>
        <p:txBody>
          <a:bodyPr wrap="square" lIns="0" tIns="27432" rIns="0" bIns="27432" anchor="t">
            <a:spAutoFit/>
          </a:bodyPr>
          <a:lstStyle/>
          <a:p>
            <a:pPr algn="l">
              <a:spcAft>
                <a:spcPts val="0"/>
              </a:spcAft>
            </a:pPr>
            <a:r>
              <a:rPr sz="1400" b="0" i="0">
                <a:solidFill>
                  <a:srgbClr val="1A1A2E"/>
                </a:solidFill>
                <a:latin typeface="Arial"/>
              </a:rPr>
              <a:t>Giới hạn tài nguyên</a:t>
            </a:r>
          </a:p>
        </p:txBody>
      </p:sp>
      <p:sp>
        <p:nvSpPr>
          <p:cNvPr id="27" name="TextBox 26"/>
          <p:cNvSpPr txBox="1"/>
          <p:nvPr/>
        </p:nvSpPr>
        <p:spPr>
          <a:xfrm>
            <a:off x="9201149" y="4709159"/>
            <a:ext cx="2137410" cy="1005840"/>
          </a:xfrm>
          <a:prstGeom prst="rect">
            <a:avLst/>
          </a:prstGeom>
          <a:noFill/>
        </p:spPr>
        <p:txBody>
          <a:bodyPr wrap="square" lIns="0" tIns="27432" rIns="0" bIns="27432" anchor="t">
            <a:spAutoFit/>
          </a:bodyPr>
          <a:lstStyle/>
          <a:p>
            <a:pPr algn="l">
              <a:spcAft>
                <a:spcPts val="0"/>
              </a:spcAft>
            </a:pPr>
            <a:r>
              <a:rPr sz="2000" b="1" i="0">
                <a:solidFill>
                  <a:srgbClr val="1A1A2E"/>
                </a:solidFill>
                <a:latin typeface="Arial"/>
              </a:rPr>
              <a:t>~1,4 GB RAM trên WSL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KIẾN TRÚC LAKEHOUSE – MEDALLION</a:t>
            </a:r>
          </a:p>
        </p:txBody>
      </p:sp>
      <p:sp>
        <p:nvSpPr>
          <p:cNvPr id="4" name="TextBox 3"/>
          <p:cNvSpPr txBox="1"/>
          <p:nvPr/>
        </p:nvSpPr>
        <p:spPr>
          <a:xfrm>
            <a:off x="685800" y="1737360"/>
            <a:ext cx="4480560" cy="4572000"/>
          </a:xfrm>
          <a:prstGeom prst="rect">
            <a:avLst/>
          </a:prstGeom>
          <a:noFill/>
        </p:spPr>
        <p:txBody>
          <a:bodyPr wrap="square" lIns="0" tIns="27432" rIns="0" bIns="27432" anchor="t">
            <a:spAutoFit/>
          </a:bodyPr>
          <a:lstStyle/>
          <a:p>
            <a:pPr marL="201168" indent="-201168" algn="l">
              <a:spcAft>
                <a:spcPts val="1200"/>
              </a:spcAft>
              <a:buClr>
                <a:srgbClr val="4472C4"/>
              </a:buClr>
              <a:buFont typeface="Arial"/>
              <a:buChar char="•"/>
            </a:pPr>
            <a:r>
              <a:rPr sz="1500" b="1" i="0">
                <a:solidFill>
                  <a:srgbClr val="1A1A2E"/>
                </a:solidFill>
                <a:latin typeface="Arial"/>
              </a:rPr>
              <a:t>Nguồn dữ liệu: </a:t>
            </a:r>
            <a:r>
              <a:rPr sz="1500" b="0" i="0">
                <a:solidFill>
                  <a:srgbClr val="1A1A2E"/>
                </a:solidFill>
                <a:latin typeface="Arial"/>
              </a:rPr>
              <a:t>CSV MovieLens 25M, The Movies Dataset và log từ Kafka Producer.</a:t>
            </a:r>
          </a:p>
          <a:p>
            <a:pPr marL="201168" indent="-201168" algn="l">
              <a:spcAft>
                <a:spcPts val="1200"/>
              </a:spcAft>
              <a:buClr>
                <a:srgbClr val="4472C4"/>
              </a:buClr>
              <a:buFont typeface="Arial"/>
              <a:buChar char="•"/>
            </a:pPr>
            <a:r>
              <a:rPr sz="1500" b="1" i="0">
                <a:solidFill>
                  <a:srgbClr val="1A1A2E"/>
                </a:solidFill>
                <a:latin typeface="Arial"/>
              </a:rPr>
              <a:t>Bronze: </a:t>
            </a:r>
            <a:r>
              <a:rPr sz="1500" b="0" i="0">
                <a:solidFill>
                  <a:srgbClr val="1A1A2E"/>
                </a:solidFill>
                <a:latin typeface="Arial"/>
              </a:rPr>
              <a:t>dữ liệu thô tại /lakehouse/bronze/movielens/.</a:t>
            </a:r>
          </a:p>
          <a:p>
            <a:pPr marL="201168" indent="-201168" algn="l">
              <a:spcAft>
                <a:spcPts val="1200"/>
              </a:spcAft>
              <a:buClr>
                <a:srgbClr val="4472C4"/>
              </a:buClr>
              <a:buFont typeface="Arial"/>
              <a:buChar char="•"/>
            </a:pPr>
            <a:r>
              <a:rPr sz="1500" b="1" i="0">
                <a:solidFill>
                  <a:srgbClr val="1A1A2E"/>
                </a:solidFill>
                <a:latin typeface="Arial"/>
              </a:rPr>
              <a:t>Silver: </a:t>
            </a:r>
            <a:r>
              <a:rPr sz="1500" b="0" i="0">
                <a:solidFill>
                  <a:srgbClr val="1A1A2E"/>
                </a:solidFill>
                <a:latin typeface="Arial"/>
              </a:rPr>
              <a:t>Snappy Parquet đã làm sạch (movies, ratings) và streaming_logs.</a:t>
            </a:r>
          </a:p>
          <a:p>
            <a:pPr marL="201168" indent="-201168" algn="l">
              <a:spcAft>
                <a:spcPts val="1200"/>
              </a:spcAft>
              <a:buClr>
                <a:srgbClr val="4472C4"/>
              </a:buClr>
              <a:buFont typeface="Arial"/>
              <a:buChar char="•"/>
            </a:pPr>
            <a:r>
              <a:rPr sz="1500" b="1" i="0">
                <a:solidFill>
                  <a:srgbClr val="1A1A2E"/>
                </a:solidFill>
                <a:latin typeface="Arial"/>
              </a:rPr>
              <a:t>Gold: </a:t>
            </a:r>
            <a:r>
              <a:rPr sz="1500" b="0" i="0">
                <a:solidFill>
                  <a:srgbClr val="1A1A2E"/>
                </a:solidFill>
                <a:latin typeface="Arial"/>
              </a:rPr>
              <a:t>kết quả phân tích và gợi ý phim.</a:t>
            </a:r>
          </a:p>
          <a:p>
            <a:pPr marL="201168" indent="-201168" algn="l">
              <a:spcAft>
                <a:spcPts val="1200"/>
              </a:spcAft>
              <a:buClr>
                <a:srgbClr val="4472C4"/>
              </a:buClr>
              <a:buFont typeface="Arial"/>
              <a:buChar char="•"/>
            </a:pPr>
            <a:r>
              <a:rPr sz="1500" b="1" i="0">
                <a:solidFill>
                  <a:srgbClr val="1A1A2E"/>
                </a:solidFill>
                <a:latin typeface="Arial"/>
              </a:rPr>
              <a:t>Batch: </a:t>
            </a:r>
            <a:r>
              <a:rPr sz="1500" b="0" i="0">
                <a:solidFill>
                  <a:srgbClr val="1A1A2E"/>
                </a:solidFill>
                <a:latin typeface="Arial"/>
              </a:rPr>
              <a:t>PySpark, Spark SQL, MLlib ALS. </a:t>
            </a:r>
            <a:r>
              <a:rPr sz="1500" b="1" i="0">
                <a:solidFill>
                  <a:srgbClr val="1A1A2E"/>
                </a:solidFill>
                <a:latin typeface="Arial"/>
              </a:rPr>
              <a:t>Streaming: </a:t>
            </a:r>
            <a:r>
              <a:rPr sz="1500" b="0" i="0">
                <a:solidFill>
                  <a:srgbClr val="1A1A2E"/>
                </a:solidFill>
                <a:latin typeface="Arial"/>
              </a:rPr>
              <a:t>Kafka, Structured Streaming, HDFS.</a:t>
            </a:r>
          </a:p>
          <a:p>
            <a:pPr marL="201168" indent="-201168" algn="l">
              <a:spcAft>
                <a:spcPts val="1200"/>
              </a:spcAft>
              <a:buClr>
                <a:srgbClr val="4472C4"/>
              </a:buClr>
              <a:buFont typeface="Arial"/>
              <a:buChar char="•"/>
            </a:pPr>
            <a:r>
              <a:rPr sz="1500" b="1" i="0">
                <a:solidFill>
                  <a:srgbClr val="1A1A2E"/>
                </a:solidFill>
                <a:latin typeface="Arial"/>
              </a:rPr>
              <a:t>Airflow </a:t>
            </a:r>
            <a:r>
              <a:rPr sz="1500" b="0" i="0">
                <a:solidFill>
                  <a:srgbClr val="1A1A2E"/>
                </a:solidFill>
                <a:latin typeface="Arial"/>
              </a:rPr>
              <a:t>lập lịch; </a:t>
            </a:r>
            <a:r>
              <a:rPr sz="1500" b="1" i="0">
                <a:solidFill>
                  <a:srgbClr val="1A1A2E"/>
                </a:solidFill>
                <a:latin typeface="Arial"/>
              </a:rPr>
              <a:t>FastAPI </a:t>
            </a:r>
            <a:r>
              <a:rPr sz="1500" b="0" i="0">
                <a:solidFill>
                  <a:srgbClr val="1A1A2E"/>
                </a:solidFill>
                <a:latin typeface="Arial"/>
              </a:rPr>
              <a:t>đọc HDFS qua WebHDFS REST API.</a:t>
            </a:r>
          </a:p>
        </p:txBody>
      </p:sp>
      <p:pic>
        <p:nvPicPr>
          <p:cNvPr id="5" name="Picture 4" descr="Sơ đồ kiến trúc Medallion Lakehouse của hệ thống"/>
          <p:cNvPicPr>
            <a:picLocks noChangeAspect="1"/>
          </p:cNvPicPr>
          <p:nvPr/>
        </p:nvPicPr>
        <p:blipFill>
          <a:blip r:embed="rId4"/>
          <a:stretch>
            <a:fillRect/>
          </a:stretch>
        </p:blipFill>
        <p:spPr>
          <a:xfrm>
            <a:off x="5440680" y="1691640"/>
            <a:ext cx="6080760" cy="4549225"/>
          </a:xfrm>
          <a:prstGeom prst="rect">
            <a:avLst/>
          </a:prstGeom>
          <a:ln w="9525">
            <a:solidFill>
              <a:srgbClr val="C9D3E6"/>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1: CỤM HDFS 2 DATANODE</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pic>
        <p:nvPicPr>
          <p:cNvPr id="5" name="Picture 4" descr="Giao diện NameNode HDFS hiển thị 2 Live Nodes"/>
          <p:cNvPicPr>
            <a:picLocks noChangeAspect="1"/>
          </p:cNvPicPr>
          <p:nvPr/>
        </p:nvPicPr>
        <p:blipFill>
          <a:blip r:embed="rId4"/>
          <a:stretch>
            <a:fillRect/>
          </a:stretch>
        </p:blipFill>
        <p:spPr>
          <a:xfrm>
            <a:off x="685800" y="1737360"/>
            <a:ext cx="5212080" cy="3519696"/>
          </a:xfrm>
          <a:prstGeom prst="rect">
            <a:avLst/>
          </a:prstGeom>
          <a:ln w="9525">
            <a:solidFill>
              <a:srgbClr val="C9D3E6"/>
            </a:solidFill>
          </a:ln>
        </p:spPr>
      </p:pic>
      <p:pic>
        <p:nvPicPr>
          <p:cNvPr id="6" name="Picture 5" descr="Kết quả lệnh jps"/>
          <p:cNvPicPr>
            <a:picLocks noChangeAspect="1"/>
          </p:cNvPicPr>
          <p:nvPr/>
        </p:nvPicPr>
        <p:blipFill>
          <a:blip r:embed="rId5"/>
          <a:stretch>
            <a:fillRect/>
          </a:stretch>
        </p:blipFill>
        <p:spPr>
          <a:xfrm>
            <a:off x="685800" y="5349240"/>
            <a:ext cx="2434826" cy="1005840"/>
          </a:xfrm>
          <a:prstGeom prst="rect">
            <a:avLst/>
          </a:prstGeom>
          <a:ln w="9525">
            <a:solidFill>
              <a:srgbClr val="C9D3E6"/>
            </a:solidFill>
          </a:ln>
        </p:spPr>
      </p:pic>
      <p:sp>
        <p:nvSpPr>
          <p:cNvPr id="7" name="TextBox 6"/>
          <p:cNvSpPr txBox="1"/>
          <p:nvPr/>
        </p:nvSpPr>
        <p:spPr>
          <a:xfrm>
            <a:off x="3429000" y="5440680"/>
            <a:ext cx="2468880" cy="822960"/>
          </a:xfrm>
          <a:prstGeom prst="rect">
            <a:avLst/>
          </a:prstGeom>
          <a:noFill/>
        </p:spPr>
        <p:txBody>
          <a:bodyPr wrap="square" lIns="0" tIns="27432" rIns="0" bIns="27432" anchor="t">
            <a:spAutoFit/>
          </a:bodyPr>
          <a:lstStyle/>
          <a:p>
            <a:pPr algn="l">
              <a:spcAft>
                <a:spcPts val="0"/>
              </a:spcAft>
            </a:pPr>
            <a:r>
              <a:rPr sz="1200" b="0" i="1">
                <a:solidFill>
                  <a:srgbClr val="555555"/>
                </a:solidFill>
                <a:latin typeface="Arial"/>
              </a:rPr>
              <a:t>Kiểm tra tiến trình Hadoop bằng lệnh jps</a:t>
            </a:r>
          </a:p>
        </p:txBody>
      </p:sp>
      <p:sp>
        <p:nvSpPr>
          <p:cNvPr id="8" name="TextBox 7"/>
          <p:cNvSpPr txBox="1"/>
          <p:nvPr/>
        </p:nvSpPr>
        <p:spPr>
          <a:xfrm>
            <a:off x="6263640" y="1737360"/>
            <a:ext cx="5257800" cy="3383280"/>
          </a:xfrm>
          <a:prstGeom prst="rect">
            <a:avLst/>
          </a:prstGeom>
          <a:noFill/>
        </p:spPr>
        <p:txBody>
          <a:bodyPr wrap="square" lIns="0" tIns="27432" rIns="0" bIns="27432" anchor="t">
            <a:spAutoFit/>
          </a:bodyPr>
          <a:lstStyle/>
          <a:p>
            <a:pPr marL="201168" indent="-201168" algn="l">
              <a:spcAft>
                <a:spcPts val="1000"/>
              </a:spcAft>
              <a:buClr>
                <a:srgbClr val="4472C4"/>
              </a:buClr>
              <a:buFont typeface="Arial"/>
              <a:buChar char="•"/>
            </a:pPr>
            <a:r>
              <a:rPr sz="1400" b="0" i="0">
                <a:solidFill>
                  <a:srgbClr val="1A1A2E"/>
                </a:solidFill>
                <a:latin typeface="Arial"/>
              </a:rPr>
              <a:t>Ubuntu 26.04 nạp vào WSL2 bằng wsl --import; cài OpenJDK 8, SSH không mật khẩu</a:t>
            </a:r>
          </a:p>
          <a:p>
            <a:pPr marL="201168" indent="-201168" algn="l">
              <a:spcAft>
                <a:spcPts val="1000"/>
              </a:spcAft>
              <a:buClr>
                <a:srgbClr val="4472C4"/>
              </a:buClr>
              <a:buFont typeface="Arial"/>
              <a:buChar char="•"/>
            </a:pPr>
            <a:r>
              <a:rPr sz="1400" b="0" i="0">
                <a:solidFill>
                  <a:srgbClr val="1A1A2E"/>
                </a:solidFill>
                <a:latin typeface="Arial"/>
              </a:rPr>
              <a:t>Hadoop 3.3.6, fs.defaultFS = hdfs://localhost:9000; định dạng NameNode, chạy start-dfs.sh</a:t>
            </a:r>
          </a:p>
          <a:p>
            <a:pPr marL="201168" indent="-201168" algn="l">
              <a:spcAft>
                <a:spcPts val="1000"/>
              </a:spcAft>
              <a:buClr>
                <a:srgbClr val="4472C4"/>
              </a:buClr>
              <a:buFont typeface="Arial"/>
              <a:buChar char="•"/>
            </a:pPr>
            <a:r>
              <a:rPr sz="1400" b="0" i="0">
                <a:solidFill>
                  <a:srgbClr val="1A1A2E"/>
                </a:solidFill>
                <a:latin typeface="Arial"/>
              </a:rPr>
              <a:t>Mở rộng lên 2 DataNode trên một máy: đổi cổng (9886, 9884, 9887), tệp PID và thư mục log</a:t>
            </a:r>
          </a:p>
          <a:p>
            <a:pPr marL="201168" indent="-201168" algn="l">
              <a:spcAft>
                <a:spcPts val="1000"/>
              </a:spcAft>
              <a:buClr>
                <a:srgbClr val="4472C4"/>
              </a:buClr>
              <a:buFont typeface="Arial"/>
              <a:buChar char="•"/>
            </a:pPr>
            <a:r>
              <a:rPr sz="1400" b="0" i="0">
                <a:solidFill>
                  <a:srgbClr val="1A1A2E"/>
                </a:solidFill>
                <a:latin typeface="Arial"/>
              </a:rPr>
              <a:t>Cấu trúc Medallion: /lakehouse/bronze, silver, gold, checkpoints; nhân bản Bronze = 2</a:t>
            </a:r>
          </a:p>
        </p:txBody>
      </p:sp>
      <p:sp>
        <p:nvSpPr>
          <p:cNvPr id="9" name="Rounded Rectangle 8"/>
          <p:cNvSpPr/>
          <p:nvPr/>
        </p:nvSpPr>
        <p:spPr>
          <a:xfrm>
            <a:off x="6263640" y="5074920"/>
            <a:ext cx="5257800" cy="118872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79" y="5184648"/>
            <a:ext cx="5074920" cy="594360"/>
          </a:xfrm>
          <a:prstGeom prst="rect">
            <a:avLst/>
          </a:prstGeom>
          <a:noFill/>
        </p:spPr>
        <p:txBody>
          <a:bodyPr wrap="square" lIns="0" tIns="27432" rIns="0" bIns="27432" anchor="ctr">
            <a:spAutoFit/>
          </a:bodyPr>
          <a:lstStyle/>
          <a:p>
            <a:pPr algn="ctr">
              <a:spcAft>
                <a:spcPts val="0"/>
              </a:spcAft>
            </a:pPr>
            <a:r>
              <a:rPr sz="2800" b="1" i="0">
                <a:solidFill>
                  <a:srgbClr val="FFFFFF"/>
                </a:solidFill>
                <a:latin typeface="Arial"/>
              </a:rPr>
              <a:t>2 Live Nodes</a:t>
            </a:r>
          </a:p>
        </p:txBody>
      </p:sp>
      <p:sp>
        <p:nvSpPr>
          <p:cNvPr id="11" name="TextBox 10"/>
          <p:cNvSpPr txBox="1"/>
          <p:nvPr/>
        </p:nvSpPr>
        <p:spPr>
          <a:xfrm>
            <a:off x="6355079" y="5764377"/>
            <a:ext cx="5074920" cy="451713"/>
          </a:xfrm>
          <a:prstGeom prst="rect">
            <a:avLst/>
          </a:prstGeom>
          <a:noFill/>
        </p:spPr>
        <p:txBody>
          <a:bodyPr wrap="square" lIns="0" tIns="27432" rIns="0" bIns="27432" anchor="t">
            <a:spAutoFit/>
          </a:bodyPr>
          <a:lstStyle/>
          <a:p>
            <a:pPr algn="ctr">
              <a:spcAft>
                <a:spcPts val="0"/>
              </a:spcAft>
            </a:pPr>
            <a:r>
              <a:rPr sz="1400" b="0" i="0">
                <a:solidFill>
                  <a:srgbClr val="FFFFFF"/>
                </a:solidFill>
                <a:latin typeface="Arial"/>
              </a:rPr>
              <a:t>Xác nhận trên giao diện NameNode (cổng 9870)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2–3: BRONZE &amp; PYSPARK</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sp>
        <p:nvSpPr>
          <p:cNvPr id="5" name="TextBox 4"/>
          <p:cNvSpPr txBox="1"/>
          <p:nvPr/>
        </p:nvSpPr>
        <p:spPr>
          <a:xfrm>
            <a:off x="685800" y="1737360"/>
            <a:ext cx="5303520" cy="36576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Giai đoạn 2: Đưa dữ liệu thô lên Bronze</a:t>
            </a:r>
          </a:p>
        </p:txBody>
      </p:sp>
      <p:sp>
        <p:nvSpPr>
          <p:cNvPr id="6" name="TextBox 5"/>
          <p:cNvSpPr txBox="1"/>
          <p:nvPr/>
        </p:nvSpPr>
        <p:spPr>
          <a:xfrm>
            <a:off x="685800" y="2194560"/>
            <a:ext cx="5303520" cy="1188720"/>
          </a:xfrm>
          <a:prstGeom prst="rect">
            <a:avLst/>
          </a:prstGeom>
          <a:noFill/>
        </p:spPr>
        <p:txBody>
          <a:bodyPr wrap="square" lIns="0" tIns="27432" rIns="0" bIns="27432" anchor="t">
            <a:spAutoFit/>
          </a:bodyPr>
          <a:lstStyle/>
          <a:p>
            <a:pPr algn="l">
              <a:spcAft>
                <a:spcPts val="0"/>
              </a:spcAft>
            </a:pPr>
            <a:r>
              <a:rPr sz="1400" b="0" i="0">
                <a:solidFill>
                  <a:srgbClr val="1A1A2E"/>
                </a:solidFill>
                <a:latin typeface="Arial"/>
              </a:rPr>
              <a:t>Tải MovieLens 25M từ Kaggle, giải nén trong Ubuntu rồi đẩy lên HDFS bằng hdfs dfs -put; bổ sung movies_metadata.csv và credits.csv cùng thư mục.</a:t>
            </a:r>
          </a:p>
        </p:txBody>
      </p:sp>
      <p:sp>
        <p:nvSpPr>
          <p:cNvPr id="7" name="Rounded Rectangle 6"/>
          <p:cNvSpPr/>
          <p:nvPr/>
        </p:nvSpPr>
        <p:spPr>
          <a:xfrm>
            <a:off x="685800" y="3520440"/>
            <a:ext cx="1234440" cy="36576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1A478A"/>
                </a:solidFill>
                <a:latin typeface="Arial"/>
              </a:rPr>
              <a:t>movies.csv</a:t>
            </a:r>
          </a:p>
        </p:txBody>
      </p:sp>
      <p:sp>
        <p:nvSpPr>
          <p:cNvPr id="8" name="Rounded Rectangle 7"/>
          <p:cNvSpPr/>
          <p:nvPr/>
        </p:nvSpPr>
        <p:spPr>
          <a:xfrm>
            <a:off x="2057400" y="3520440"/>
            <a:ext cx="1280160" cy="36576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1A478A"/>
                </a:solidFill>
                <a:latin typeface="Arial"/>
              </a:rPr>
              <a:t>ratings.csv</a:t>
            </a:r>
          </a:p>
        </p:txBody>
      </p:sp>
      <p:sp>
        <p:nvSpPr>
          <p:cNvPr id="9" name="Rounded Rectangle 8"/>
          <p:cNvSpPr/>
          <p:nvPr/>
        </p:nvSpPr>
        <p:spPr>
          <a:xfrm>
            <a:off x="3474720" y="3520440"/>
            <a:ext cx="1097280" cy="36576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1A478A"/>
                </a:solidFill>
                <a:latin typeface="Arial"/>
              </a:rPr>
              <a:t>links.csv</a:t>
            </a:r>
          </a:p>
        </p:txBody>
      </p:sp>
      <p:sp>
        <p:nvSpPr>
          <p:cNvPr id="10" name="Rounded Rectangle 9"/>
          <p:cNvSpPr/>
          <p:nvPr/>
        </p:nvSpPr>
        <p:spPr>
          <a:xfrm>
            <a:off x="4709160" y="3520440"/>
            <a:ext cx="1280160" cy="36576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1A478A"/>
                </a:solidFill>
                <a:latin typeface="Arial"/>
              </a:rPr>
              <a:t>credits.csv</a:t>
            </a:r>
          </a:p>
        </p:txBody>
      </p:sp>
      <p:sp>
        <p:nvSpPr>
          <p:cNvPr id="11" name="Rounded Rectangle 10"/>
          <p:cNvSpPr/>
          <p:nvPr/>
        </p:nvSpPr>
        <p:spPr>
          <a:xfrm>
            <a:off x="685800" y="3977639"/>
            <a:ext cx="2194560" cy="36576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i="0">
                <a:solidFill>
                  <a:srgbClr val="1A478A"/>
                </a:solidFill>
                <a:latin typeface="Arial"/>
              </a:rPr>
              <a:t>movies_metadata.csv</a:t>
            </a:r>
          </a:p>
        </p:txBody>
      </p:sp>
      <p:pic>
        <p:nvPicPr>
          <p:cNvPr id="12" name="Picture 11" descr="Danh sách tệp dữ liệu thô trên tầng Bronze HDFS"/>
          <p:cNvPicPr>
            <a:picLocks noChangeAspect="1"/>
          </p:cNvPicPr>
          <p:nvPr/>
        </p:nvPicPr>
        <p:blipFill>
          <a:blip r:embed="rId4"/>
          <a:stretch>
            <a:fillRect/>
          </a:stretch>
        </p:blipFill>
        <p:spPr>
          <a:xfrm>
            <a:off x="685800" y="4663440"/>
            <a:ext cx="5303520" cy="1092539"/>
          </a:xfrm>
          <a:prstGeom prst="rect">
            <a:avLst/>
          </a:prstGeom>
          <a:ln w="9525">
            <a:solidFill>
              <a:srgbClr val="C9D3E6"/>
            </a:solidFill>
          </a:ln>
        </p:spPr>
      </p:pic>
      <p:sp>
        <p:nvSpPr>
          <p:cNvPr id="13" name="TextBox 12"/>
          <p:cNvSpPr txBox="1"/>
          <p:nvPr/>
        </p:nvSpPr>
        <p:spPr>
          <a:xfrm>
            <a:off x="6217920" y="1737360"/>
            <a:ext cx="5303520" cy="36576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Giai đoạn 3: Đọc và xử lý bằng PySpark</a:t>
            </a:r>
          </a:p>
        </p:txBody>
      </p:sp>
      <p:sp>
        <p:nvSpPr>
          <p:cNvPr id="14" name="TextBox 13"/>
          <p:cNvSpPr txBox="1"/>
          <p:nvPr/>
        </p:nvSpPr>
        <p:spPr>
          <a:xfrm>
            <a:off x="6217920" y="2194560"/>
            <a:ext cx="5303520" cy="1371600"/>
          </a:xfrm>
          <a:prstGeom prst="rect">
            <a:avLst/>
          </a:prstGeom>
          <a:noFill/>
        </p:spPr>
        <p:txBody>
          <a:bodyPr wrap="square" lIns="0" tIns="27432" rIns="0" bIns="27432" anchor="t">
            <a:spAutoFit/>
          </a:bodyPr>
          <a:lstStyle/>
          <a:p>
            <a:pPr algn="l">
              <a:spcAft>
                <a:spcPts val="0"/>
              </a:spcAft>
            </a:pPr>
            <a:r>
              <a:rPr sz="1400" b="0" i="0">
                <a:solidFill>
                  <a:srgbClr val="1A1A2E"/>
                </a:solidFill>
                <a:latin typeface="Arial"/>
              </a:rPr>
              <a:t>process_movies.py đọc CSV từ HDFS; riêng movies_metadata.csv dùng quote, escape, multiLine. Ghép movies, links, metadata theo movieId – tmdbId, chọn TenPhim, TheLoai, TomTatNoiDung, DiemTMDB, KinhPhi.</a:t>
            </a:r>
          </a:p>
        </p:txBody>
      </p:sp>
      <p:pic>
        <p:nvPicPr>
          <p:cNvPr id="15" name="Picture 14" descr="Kết quả ghép dữ liệu phim bằng PySpark"/>
          <p:cNvPicPr>
            <a:picLocks noChangeAspect="1"/>
          </p:cNvPicPr>
          <p:nvPr/>
        </p:nvPicPr>
        <p:blipFill>
          <a:blip r:embed="rId5"/>
          <a:stretch>
            <a:fillRect/>
          </a:stretch>
        </p:blipFill>
        <p:spPr>
          <a:xfrm>
            <a:off x="6217920" y="3657600"/>
            <a:ext cx="5303520" cy="2041477"/>
          </a:xfrm>
          <a:prstGeom prst="rect">
            <a:avLst/>
          </a:prstGeom>
          <a:ln w="9525">
            <a:solidFill>
              <a:srgbClr val="C9D3E6"/>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4: LÀM SẠCH &amp; TẦNG SILVER</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sp>
        <p:nvSpPr>
          <p:cNvPr id="5" name="TextBox 4"/>
          <p:cNvSpPr txBox="1"/>
          <p:nvPr/>
        </p:nvSpPr>
        <p:spPr>
          <a:xfrm>
            <a:off x="685800" y="1737360"/>
            <a:ext cx="5760720" cy="3291840"/>
          </a:xfrm>
          <a:prstGeom prst="rect">
            <a:avLst/>
          </a:prstGeom>
          <a:noFill/>
        </p:spPr>
        <p:txBody>
          <a:bodyPr wrap="square" lIns="0" tIns="27432" rIns="0" bIns="27432" anchor="t">
            <a:spAutoFit/>
          </a:bodyPr>
          <a:lstStyle/>
          <a:p>
            <a:pPr marL="201168" indent="-201168" algn="l">
              <a:spcAft>
                <a:spcPts val="900"/>
              </a:spcAft>
              <a:buClr>
                <a:srgbClr val="4472C4"/>
              </a:buClr>
              <a:buFont typeface="Arial"/>
              <a:buChar char="•"/>
            </a:pPr>
            <a:r>
              <a:rPr sz="1600" b="0" i="0">
                <a:solidFill>
                  <a:srgbClr val="1A1A2E"/>
                </a:solidFill>
                <a:latin typeface="Arial"/>
              </a:rPr>
              <a:t>Khử xung đột tên cột (title → TenPhim, id → meta_id), tránh lỗi AMBIGUOUS_REFERENCE</a:t>
            </a:r>
          </a:p>
          <a:p>
            <a:pPr marL="201168" indent="-201168" algn="l">
              <a:spcAft>
                <a:spcPts val="900"/>
              </a:spcAft>
              <a:buClr>
                <a:srgbClr val="4472C4"/>
              </a:buClr>
              <a:buFont typeface="Arial"/>
              <a:buChar char="•"/>
            </a:pPr>
            <a:r>
              <a:rPr sz="1600" b="0" i="0">
                <a:solidFill>
                  <a:srgbClr val="1A1A2E"/>
                </a:solidFill>
                <a:latin typeface="Arial"/>
              </a:rPr>
              <a:t>Trích năm phát hành (NamPhatHanh) bằng regex, ví dụ "Toy Story (1995)" → 1995</a:t>
            </a:r>
          </a:p>
          <a:p>
            <a:pPr marL="201168" indent="-201168" algn="l">
              <a:spcAft>
                <a:spcPts val="900"/>
              </a:spcAft>
              <a:buClr>
                <a:srgbClr val="4472C4"/>
              </a:buClr>
              <a:buFont typeface="Arial"/>
              <a:buChar char="•"/>
            </a:pPr>
            <a:r>
              <a:rPr sz="1600" b="0" i="0">
                <a:solidFill>
                  <a:srgbClr val="1A1A2E"/>
                </a:solidFill>
                <a:latin typeface="Arial"/>
              </a:rPr>
              <a:t>Ép kiểu điểm TMDB về 0–10; loại kinh phí ≤ 0</a:t>
            </a:r>
          </a:p>
          <a:p>
            <a:pPr marL="201168" indent="-201168" algn="l">
              <a:spcAft>
                <a:spcPts val="900"/>
              </a:spcAft>
              <a:buClr>
                <a:srgbClr val="4472C4"/>
              </a:buClr>
              <a:buFont typeface="Arial"/>
              <a:buChar char="•"/>
            </a:pPr>
            <a:r>
              <a:rPr sz="1600" b="0" i="0">
                <a:solidFill>
                  <a:srgbClr val="1A1A2E"/>
                </a:solidFill>
                <a:latin typeface="Arial"/>
              </a:rPr>
              <a:t>Điền "Chưa rõ" cho thể loại rỗng, "Không có tóm tắt" cho overview</a:t>
            </a:r>
          </a:p>
          <a:p>
            <a:pPr marL="201168" indent="-201168" algn="l">
              <a:spcAft>
                <a:spcPts val="900"/>
              </a:spcAft>
              <a:buClr>
                <a:srgbClr val="4472C4"/>
              </a:buClr>
              <a:buFont typeface="Arial"/>
              <a:buChar char="•"/>
            </a:pPr>
            <a:r>
              <a:rPr sz="1600" b="0" i="0">
                <a:solidFill>
                  <a:srgbClr val="1A1A2E"/>
                </a:solidFill>
                <a:latin typeface="Arial"/>
              </a:rPr>
              <a:t>Giữ rating 0.5–5.0; đổi Unix timestamp sang yyyy-MM-dd HH:mm:ss</a:t>
            </a:r>
          </a:p>
        </p:txBody>
      </p:sp>
      <p:sp>
        <p:nvSpPr>
          <p:cNvPr id="6" name="Rounded Rectangle 5"/>
          <p:cNvSpPr/>
          <p:nvPr/>
        </p:nvSpPr>
        <p:spPr>
          <a:xfrm>
            <a:off x="685800" y="5029200"/>
            <a:ext cx="5760720" cy="1280160"/>
          </a:xfrm>
          <a:prstGeom prst="roundRect">
            <a:avLst>
              <a:gd name="adj" fmla="val 6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074920"/>
            <a:ext cx="5394960" cy="1188720"/>
          </a:xfrm>
          <a:prstGeom prst="rect">
            <a:avLst/>
          </a:prstGeom>
          <a:noFill/>
        </p:spPr>
        <p:txBody>
          <a:bodyPr wrap="square" lIns="0" tIns="27432" rIns="0" bIns="27432" anchor="ctr">
            <a:spAutoFit/>
          </a:bodyPr>
          <a:lstStyle/>
          <a:p>
            <a:pPr algn="l">
              <a:spcAft>
                <a:spcPts val="0"/>
              </a:spcAft>
            </a:pPr>
            <a:r>
              <a:rPr sz="1400" b="1" i="0">
                <a:solidFill>
                  <a:srgbClr val="1A1A2E"/>
                </a:solidFill>
                <a:latin typeface="Arial"/>
              </a:rPr>
              <a:t>Tối ưu tài nguyên: </a:t>
            </a:r>
            <a:r>
              <a:rPr sz="1400" b="0" i="0">
                <a:solidFill>
                  <a:srgbClr val="1A1A2E"/>
                </a:solidFill>
                <a:latin typeface="Arial"/>
              </a:rPr>
              <a:t>chuyển spark.local.dir sang đĩa thực để hết lỗi đầy /tmp; bỏ dropDuplicates() và chỉ dùng biến đổi hẹp để tránh shuffle.</a:t>
            </a:r>
          </a:p>
        </p:txBody>
      </p:sp>
      <p:sp>
        <p:nvSpPr>
          <p:cNvPr id="8" name="Rounded Rectangle 7"/>
          <p:cNvSpPr/>
          <p:nvPr/>
        </p:nvSpPr>
        <p:spPr>
          <a:xfrm>
            <a:off x="6812280" y="1737360"/>
            <a:ext cx="2286000" cy="11887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3720" y="1847088"/>
            <a:ext cx="2103120" cy="594360"/>
          </a:xfrm>
          <a:prstGeom prst="rect">
            <a:avLst/>
          </a:prstGeom>
          <a:noFill/>
        </p:spPr>
        <p:txBody>
          <a:bodyPr wrap="square" lIns="0" tIns="27432" rIns="0" bIns="27432" anchor="ctr">
            <a:spAutoFit/>
          </a:bodyPr>
          <a:lstStyle/>
          <a:p>
            <a:pPr algn="ctr">
              <a:spcAft>
                <a:spcPts val="0"/>
              </a:spcAft>
            </a:pPr>
            <a:r>
              <a:rPr sz="3000" b="1" i="0">
                <a:solidFill>
                  <a:srgbClr val="1A478A"/>
                </a:solidFill>
                <a:latin typeface="Arial"/>
              </a:rPr>
              <a:t>62.423</a:t>
            </a:r>
          </a:p>
        </p:txBody>
      </p:sp>
      <p:sp>
        <p:nvSpPr>
          <p:cNvPr id="10" name="TextBox 9"/>
          <p:cNvSpPr txBox="1"/>
          <p:nvPr/>
        </p:nvSpPr>
        <p:spPr>
          <a:xfrm>
            <a:off x="6903720" y="2426817"/>
            <a:ext cx="2103120" cy="451713"/>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phim → /silver/movies</a:t>
            </a:r>
          </a:p>
        </p:txBody>
      </p:sp>
      <p:sp>
        <p:nvSpPr>
          <p:cNvPr id="11" name="Rounded Rectangle 10"/>
          <p:cNvSpPr/>
          <p:nvPr/>
        </p:nvSpPr>
        <p:spPr>
          <a:xfrm>
            <a:off x="9235440" y="1737360"/>
            <a:ext cx="2286000" cy="118872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0" y="1847088"/>
            <a:ext cx="2103120" cy="594360"/>
          </a:xfrm>
          <a:prstGeom prst="rect">
            <a:avLst/>
          </a:prstGeom>
          <a:noFill/>
        </p:spPr>
        <p:txBody>
          <a:bodyPr wrap="square" lIns="0" tIns="27432" rIns="0" bIns="27432" anchor="ctr">
            <a:spAutoFit/>
          </a:bodyPr>
          <a:lstStyle/>
          <a:p>
            <a:pPr algn="ctr">
              <a:spcAft>
                <a:spcPts val="0"/>
              </a:spcAft>
            </a:pPr>
            <a:r>
              <a:rPr sz="3000" b="1" i="0">
                <a:solidFill>
                  <a:srgbClr val="FFFFFF"/>
                </a:solidFill>
                <a:latin typeface="Arial"/>
              </a:rPr>
              <a:t>25 triệu</a:t>
            </a:r>
          </a:p>
        </p:txBody>
      </p:sp>
      <p:sp>
        <p:nvSpPr>
          <p:cNvPr id="13" name="TextBox 12"/>
          <p:cNvSpPr txBox="1"/>
          <p:nvPr/>
        </p:nvSpPr>
        <p:spPr>
          <a:xfrm>
            <a:off x="9326880" y="2426817"/>
            <a:ext cx="2103120" cy="451713"/>
          </a:xfrm>
          <a:prstGeom prst="rect">
            <a:avLst/>
          </a:prstGeom>
          <a:noFill/>
        </p:spPr>
        <p:txBody>
          <a:bodyPr wrap="square" lIns="0" tIns="27432" rIns="0" bIns="27432" anchor="t">
            <a:spAutoFit/>
          </a:bodyPr>
          <a:lstStyle/>
          <a:p>
            <a:pPr algn="ctr">
              <a:spcAft>
                <a:spcPts val="0"/>
              </a:spcAft>
            </a:pPr>
            <a:r>
              <a:rPr sz="1400" b="0" i="0">
                <a:solidFill>
                  <a:srgbClr val="FFFFFF"/>
                </a:solidFill>
                <a:latin typeface="Arial"/>
              </a:rPr>
              <a:t>đánh giá → /silver/ratings</a:t>
            </a:r>
          </a:p>
        </p:txBody>
      </p:sp>
      <p:pic>
        <p:nvPicPr>
          <p:cNvPr id="14" name="Picture 13" descr="Cấu trúc tệp Parquet tầng Silver trên HDFS"/>
          <p:cNvPicPr>
            <a:picLocks noChangeAspect="1"/>
          </p:cNvPicPr>
          <p:nvPr/>
        </p:nvPicPr>
        <p:blipFill>
          <a:blip r:embed="rId4"/>
          <a:stretch>
            <a:fillRect/>
          </a:stretch>
        </p:blipFill>
        <p:spPr>
          <a:xfrm>
            <a:off x="6812280" y="3200400"/>
            <a:ext cx="4699534" cy="1600200"/>
          </a:xfrm>
          <a:prstGeom prst="rect">
            <a:avLst/>
          </a:prstGeom>
          <a:ln w="9525">
            <a:solidFill>
              <a:srgbClr val="C9D3E6"/>
            </a:solidFill>
          </a:ln>
        </p:spPr>
      </p:pic>
      <p:sp>
        <p:nvSpPr>
          <p:cNvPr id="15" name="TextBox 14"/>
          <p:cNvSpPr txBox="1"/>
          <p:nvPr/>
        </p:nvSpPr>
        <p:spPr>
          <a:xfrm>
            <a:off x="6812280" y="4937760"/>
            <a:ext cx="4709160" cy="274320"/>
          </a:xfrm>
          <a:prstGeom prst="rect">
            <a:avLst/>
          </a:prstGeom>
          <a:noFill/>
        </p:spPr>
        <p:txBody>
          <a:bodyPr wrap="square" lIns="0" tIns="27432" rIns="0" bIns="27432" anchor="t">
            <a:spAutoFit/>
          </a:bodyPr>
          <a:lstStyle/>
          <a:p>
            <a:pPr algn="l">
              <a:spcAft>
                <a:spcPts val="0"/>
              </a:spcAft>
            </a:pPr>
            <a:r>
              <a:rPr sz="1200" b="0" i="1">
                <a:solidFill>
                  <a:srgbClr val="555555"/>
                </a:solidFill>
                <a:latin typeface="Arial"/>
              </a:rPr>
              <a:t>Định dạng Snappy Parquet trên HDFS</a:t>
            </a:r>
          </a:p>
        </p:txBody>
      </p:sp>
      <p:pic>
        <p:nvPicPr>
          <p:cNvPr id="16" name="Picture 15" descr="Quá trình làm sạch dữ liệu tầng Silver"/>
          <p:cNvPicPr>
            <a:picLocks noChangeAspect="1"/>
          </p:cNvPicPr>
          <p:nvPr/>
        </p:nvPicPr>
        <p:blipFill>
          <a:blip r:embed="rId5"/>
          <a:stretch>
            <a:fillRect/>
          </a:stretch>
        </p:blipFill>
        <p:spPr>
          <a:xfrm>
            <a:off x="6812280" y="5303520"/>
            <a:ext cx="1737359" cy="866262"/>
          </a:xfrm>
          <a:prstGeom prst="rect">
            <a:avLst/>
          </a:prstGeom>
          <a:ln w="9525">
            <a:solidFill>
              <a:srgbClr val="C9D3E6"/>
            </a:solidFill>
          </a:ln>
        </p:spPr>
      </p:pic>
      <p:sp>
        <p:nvSpPr>
          <p:cNvPr id="17" name="TextBox 16"/>
          <p:cNvSpPr txBox="1"/>
          <p:nvPr/>
        </p:nvSpPr>
        <p:spPr>
          <a:xfrm>
            <a:off x="8686800" y="5349240"/>
            <a:ext cx="2834640" cy="822960"/>
          </a:xfrm>
          <a:prstGeom prst="rect">
            <a:avLst/>
          </a:prstGeom>
          <a:noFill/>
        </p:spPr>
        <p:txBody>
          <a:bodyPr wrap="square" lIns="0" tIns="27432" rIns="0" bIns="27432" anchor="t">
            <a:spAutoFit/>
          </a:bodyPr>
          <a:lstStyle/>
          <a:p>
            <a:pPr algn="l">
              <a:spcAft>
                <a:spcPts val="0"/>
              </a:spcAft>
            </a:pPr>
            <a:r>
              <a:rPr sz="1200" b="0" i="1">
                <a:solidFill>
                  <a:srgbClr val="555555"/>
                </a:solidFill>
                <a:latin typeface="Arial"/>
              </a:rPr>
              <a:t>Nhật ký làm sạch và tối ưu dữ liệu tầng Silver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5: TRUY VẤN SPARK SQL</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sp>
        <p:nvSpPr>
          <p:cNvPr id="5" name="Rounded Rectangle 4"/>
          <p:cNvSpPr/>
          <p:nvPr/>
        </p:nvSpPr>
        <p:spPr>
          <a:xfrm>
            <a:off x="685800" y="1737360"/>
            <a:ext cx="3429000" cy="12344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47088"/>
            <a:ext cx="3246120" cy="617220"/>
          </a:xfrm>
          <a:prstGeom prst="rect">
            <a:avLst/>
          </a:prstGeom>
          <a:noFill/>
        </p:spPr>
        <p:txBody>
          <a:bodyPr wrap="square" lIns="0" tIns="27432" rIns="0" bIns="27432" anchor="ctr">
            <a:spAutoFit/>
          </a:bodyPr>
          <a:lstStyle/>
          <a:p>
            <a:pPr algn="ctr">
              <a:spcAft>
                <a:spcPts val="0"/>
              </a:spcAft>
            </a:pPr>
            <a:r>
              <a:rPr sz="2800" b="1" i="0">
                <a:solidFill>
                  <a:srgbClr val="1A478A"/>
                </a:solidFill>
                <a:latin typeface="Arial"/>
              </a:rPr>
              <a:t>≥ 8.0</a:t>
            </a:r>
          </a:p>
        </p:txBody>
      </p:sp>
      <p:sp>
        <p:nvSpPr>
          <p:cNvPr id="7" name="TextBox 6"/>
          <p:cNvSpPr txBox="1"/>
          <p:nvPr/>
        </p:nvSpPr>
        <p:spPr>
          <a:xfrm>
            <a:off x="777240" y="2453335"/>
            <a:ext cx="3246120" cy="469087"/>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điểm đánh giá TMDB</a:t>
            </a:r>
          </a:p>
        </p:txBody>
      </p:sp>
      <p:sp>
        <p:nvSpPr>
          <p:cNvPr id="8" name="Rounded Rectangle 7"/>
          <p:cNvSpPr/>
          <p:nvPr/>
        </p:nvSpPr>
        <p:spPr>
          <a:xfrm>
            <a:off x="4389120" y="1737360"/>
            <a:ext cx="3429000" cy="123444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59" y="1847088"/>
            <a:ext cx="3246120" cy="617220"/>
          </a:xfrm>
          <a:prstGeom prst="rect">
            <a:avLst/>
          </a:prstGeom>
          <a:noFill/>
        </p:spPr>
        <p:txBody>
          <a:bodyPr wrap="square" lIns="0" tIns="27432" rIns="0" bIns="27432" anchor="ctr">
            <a:spAutoFit/>
          </a:bodyPr>
          <a:lstStyle/>
          <a:p>
            <a:pPr algn="ctr">
              <a:spcAft>
                <a:spcPts val="0"/>
              </a:spcAft>
            </a:pPr>
            <a:r>
              <a:rPr sz="2800" b="1" i="0">
                <a:solidFill>
                  <a:srgbClr val="1A478A"/>
                </a:solidFill>
                <a:latin typeface="Arial"/>
              </a:rPr>
              <a:t>&gt; 10 triệu USD</a:t>
            </a:r>
          </a:p>
        </p:txBody>
      </p:sp>
      <p:sp>
        <p:nvSpPr>
          <p:cNvPr id="10" name="TextBox 9"/>
          <p:cNvSpPr txBox="1"/>
          <p:nvPr/>
        </p:nvSpPr>
        <p:spPr>
          <a:xfrm>
            <a:off x="4480559" y="2453335"/>
            <a:ext cx="3246120" cy="469087"/>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kinh phí sản xuất</a:t>
            </a:r>
          </a:p>
        </p:txBody>
      </p:sp>
      <p:sp>
        <p:nvSpPr>
          <p:cNvPr id="11" name="Rounded Rectangle 10"/>
          <p:cNvSpPr/>
          <p:nvPr/>
        </p:nvSpPr>
        <p:spPr>
          <a:xfrm>
            <a:off x="8092440" y="1737360"/>
            <a:ext cx="3429000" cy="123444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83879" y="1847088"/>
            <a:ext cx="3246120" cy="617220"/>
          </a:xfrm>
          <a:prstGeom prst="rect">
            <a:avLst/>
          </a:prstGeom>
          <a:noFill/>
        </p:spPr>
        <p:txBody>
          <a:bodyPr wrap="square" lIns="0" tIns="27432" rIns="0" bIns="27432" anchor="ctr">
            <a:spAutoFit/>
          </a:bodyPr>
          <a:lstStyle/>
          <a:p>
            <a:pPr algn="ctr">
              <a:spcAft>
                <a:spcPts val="0"/>
              </a:spcAft>
            </a:pPr>
            <a:r>
              <a:rPr sz="2800" b="1" i="0">
                <a:solidFill>
                  <a:srgbClr val="FFFFFF"/>
                </a:solidFill>
                <a:latin typeface="Arial"/>
              </a:rPr>
              <a:t>Top 5</a:t>
            </a:r>
          </a:p>
        </p:txBody>
      </p:sp>
      <p:sp>
        <p:nvSpPr>
          <p:cNvPr id="13" name="TextBox 12"/>
          <p:cNvSpPr txBox="1"/>
          <p:nvPr/>
        </p:nvSpPr>
        <p:spPr>
          <a:xfrm>
            <a:off x="8183879" y="2453335"/>
            <a:ext cx="3246120" cy="469087"/>
          </a:xfrm>
          <a:prstGeom prst="rect">
            <a:avLst/>
          </a:prstGeom>
          <a:noFill/>
        </p:spPr>
        <p:txBody>
          <a:bodyPr wrap="square" lIns="0" tIns="27432" rIns="0" bIns="27432" anchor="t">
            <a:spAutoFit/>
          </a:bodyPr>
          <a:lstStyle/>
          <a:p>
            <a:pPr algn="ctr">
              <a:spcAft>
                <a:spcPts val="0"/>
              </a:spcAft>
            </a:pPr>
            <a:r>
              <a:rPr sz="1400" b="0" i="0">
                <a:solidFill>
                  <a:srgbClr val="FFFFFF"/>
                </a:solidFill>
                <a:latin typeface="Arial"/>
              </a:rPr>
              <a:t>tác phẩm kinh điển đầu tư lớn</a:t>
            </a:r>
          </a:p>
        </p:txBody>
      </p:sp>
      <p:sp>
        <p:nvSpPr>
          <p:cNvPr id="14" name="TextBox 13"/>
          <p:cNvSpPr txBox="1"/>
          <p:nvPr/>
        </p:nvSpPr>
        <p:spPr>
          <a:xfrm>
            <a:off x="685800" y="3108960"/>
            <a:ext cx="10835640" cy="640080"/>
          </a:xfrm>
          <a:prstGeom prst="rect">
            <a:avLst/>
          </a:prstGeom>
          <a:noFill/>
        </p:spPr>
        <p:txBody>
          <a:bodyPr wrap="square" lIns="0" tIns="27432" rIns="0" bIns="27432" anchor="t">
            <a:spAutoFit/>
          </a:bodyPr>
          <a:lstStyle/>
          <a:p>
            <a:pPr algn="l">
              <a:spcAft>
                <a:spcPts val="0"/>
              </a:spcAft>
            </a:pPr>
            <a:r>
              <a:rPr sz="1400" b="0" i="0">
                <a:solidFill>
                  <a:srgbClr val="1A1A2E"/>
                </a:solidFill>
                <a:latin typeface="Arial"/>
              </a:rPr>
              <a:t>query_movies.py đăng ký DataFrame đọc từ HDFS thành các bảng tạm (movies, links, metadata) và chạy truy vấn SQL chuẩn ANSI ghép ba bảng.</a:t>
            </a:r>
          </a:p>
        </p:txBody>
      </p:sp>
      <p:pic>
        <p:nvPicPr>
          <p:cNvPr id="15" name="Picture 14" descr="Kết quả truy vấn Spark SQL"/>
          <p:cNvPicPr>
            <a:picLocks noChangeAspect="1"/>
          </p:cNvPicPr>
          <p:nvPr/>
        </p:nvPicPr>
        <p:blipFill>
          <a:blip r:embed="rId4"/>
          <a:stretch>
            <a:fillRect/>
          </a:stretch>
        </p:blipFill>
        <p:spPr>
          <a:xfrm>
            <a:off x="1097279" y="3840480"/>
            <a:ext cx="9966960" cy="2305680"/>
          </a:xfrm>
          <a:prstGeom prst="rect">
            <a:avLst/>
          </a:prstGeom>
          <a:ln w="9525">
            <a:solidFill>
              <a:srgbClr val="C9D3E6"/>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6: MÔ HÌNH GỢI Ý ALS</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graphicFrame>
        <p:nvGraphicFramePr>
          <p:cNvPr id="5" name="Table 4"/>
          <p:cNvGraphicFramePr>
            <a:graphicFrameLocks noGrp="1"/>
          </p:cNvGraphicFramePr>
          <p:nvPr/>
        </p:nvGraphicFramePr>
        <p:xfrm>
          <a:off x="685800" y="1737360"/>
          <a:ext cx="5852160" cy="300837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29768">
                <a:tc>
                  <a:txBody>
                    <a:bodyPr/>
                    <a:lstStyle/>
                    <a:p>
                      <a:r>
                        <a:rPr sz="1400" b="1" i="0">
                          <a:solidFill>
                            <a:srgbClr val="FFFFFF"/>
                          </a:solidFill>
                          <a:latin typeface="Arial"/>
                        </a:rPr>
                        <a:t>Tham số</a:t>
                      </a:r>
                    </a:p>
                  </a:txBody>
                  <a:tcPr marT="36576" marB="36576" anchor="ctr">
                    <a:solidFill>
                      <a:srgbClr val="1A478A"/>
                    </a:solidFill>
                  </a:tcPr>
                </a:tc>
                <a:tc>
                  <a:txBody>
                    <a:bodyPr/>
                    <a:lstStyle/>
                    <a:p>
                      <a:r>
                        <a:rPr sz="1400" b="1" i="0">
                          <a:solidFill>
                            <a:srgbClr val="FFFFFF"/>
                          </a:solidFill>
                          <a:latin typeface="Arial"/>
                        </a:rPr>
                        <a:t>Giá trị</a:t>
                      </a:r>
                    </a:p>
                  </a:txBody>
                  <a:tcPr marT="36576" marB="36576" anchor="ctr">
                    <a:solidFill>
                      <a:srgbClr val="1A478A"/>
                    </a:solidFill>
                  </a:tcPr>
                </a:tc>
                <a:tc>
                  <a:txBody>
                    <a:bodyPr/>
                    <a:lstStyle/>
                    <a:p>
                      <a:r>
                        <a:rPr sz="1400" b="1" i="0">
                          <a:solidFill>
                            <a:srgbClr val="FFFFFF"/>
                          </a:solidFill>
                          <a:latin typeface="Arial"/>
                        </a:rPr>
                        <a:t>Ghi chú</a:t>
                      </a:r>
                    </a:p>
                  </a:txBody>
                  <a:tcPr marT="36576" marB="36576" anchor="ctr">
                    <a:solidFill>
                      <a:srgbClr val="1A478A"/>
                    </a:solidFill>
                  </a:tcPr>
                </a:tc>
                <a:extLst>
                  <a:ext uri="{0D108BD9-81ED-4DB2-BD59-A6C34878D82A}">
                    <a16:rowId xmlns:a16="http://schemas.microsoft.com/office/drawing/2014/main" val="10000"/>
                  </a:ext>
                </a:extLst>
              </a:tr>
              <a:tr h="429768">
                <a:tc>
                  <a:txBody>
                    <a:bodyPr/>
                    <a:lstStyle/>
                    <a:p>
                      <a:r>
                        <a:rPr sz="1400" b="1" i="0">
                          <a:solidFill>
                            <a:srgbClr val="1A1A2E"/>
                          </a:solidFill>
                          <a:latin typeface="Arial"/>
                        </a:rPr>
                        <a:t>rank</a:t>
                      </a:r>
                    </a:p>
                  </a:txBody>
                  <a:tcPr marT="36576" marB="36576" anchor="ctr">
                    <a:solidFill>
                      <a:srgbClr val="FFFFFF"/>
                    </a:solidFill>
                  </a:tcPr>
                </a:tc>
                <a:tc>
                  <a:txBody>
                    <a:bodyPr/>
                    <a:lstStyle/>
                    <a:p>
                      <a:r>
                        <a:rPr sz="1400" b="0" i="0">
                          <a:solidFill>
                            <a:srgbClr val="1A1A2E"/>
                          </a:solidFill>
                          <a:latin typeface="Arial"/>
                        </a:rPr>
                        <a:t>10</a:t>
                      </a:r>
                    </a:p>
                  </a:txBody>
                  <a:tcPr marT="36576" marB="36576" anchor="ctr">
                    <a:solidFill>
                      <a:srgbClr val="FFFFFF"/>
                    </a:solidFill>
                  </a:tcPr>
                </a:tc>
                <a:tc>
                  <a:txBody>
                    <a:bodyPr/>
                    <a:lstStyle/>
                    <a:p>
                      <a:r>
                        <a:rPr sz="1400" b="0" i="0">
                          <a:solidFill>
                            <a:srgbClr val="1A1A2E"/>
                          </a:solidFill>
                          <a:latin typeface="Arial"/>
                        </a:rPr>
                        <a:t>Kích thước vector nhân tố ẩn</a:t>
                      </a:r>
                    </a:p>
                  </a:txBody>
                  <a:tcPr marT="36576" marB="36576" anchor="ctr">
                    <a:solidFill>
                      <a:srgbClr val="FFFFFF"/>
                    </a:solidFill>
                  </a:tcPr>
                </a:tc>
                <a:extLst>
                  <a:ext uri="{0D108BD9-81ED-4DB2-BD59-A6C34878D82A}">
                    <a16:rowId xmlns:a16="http://schemas.microsoft.com/office/drawing/2014/main" val="10001"/>
                  </a:ext>
                </a:extLst>
              </a:tr>
              <a:tr h="429768">
                <a:tc>
                  <a:txBody>
                    <a:bodyPr/>
                    <a:lstStyle/>
                    <a:p>
                      <a:r>
                        <a:rPr sz="1400" b="1" i="0">
                          <a:solidFill>
                            <a:srgbClr val="1A1A2E"/>
                          </a:solidFill>
                          <a:latin typeface="Arial"/>
                        </a:rPr>
                        <a:t>maxIter</a:t>
                      </a:r>
                    </a:p>
                  </a:txBody>
                  <a:tcPr marT="36576" marB="36576" anchor="ctr">
                    <a:solidFill>
                      <a:srgbClr val="F4F7FC"/>
                    </a:solidFill>
                  </a:tcPr>
                </a:tc>
                <a:tc>
                  <a:txBody>
                    <a:bodyPr/>
                    <a:lstStyle/>
                    <a:p>
                      <a:r>
                        <a:rPr sz="1400" b="0" i="0">
                          <a:solidFill>
                            <a:srgbClr val="1A1A2E"/>
                          </a:solidFill>
                          <a:latin typeface="Arial"/>
                        </a:rPr>
                        <a:t>5</a:t>
                      </a:r>
                    </a:p>
                  </a:txBody>
                  <a:tcPr marT="36576" marB="36576" anchor="ctr">
                    <a:solidFill>
                      <a:srgbClr val="F4F7FC"/>
                    </a:solidFill>
                  </a:tcPr>
                </a:tc>
                <a:tc>
                  <a:txBody>
                    <a:bodyPr/>
                    <a:lstStyle/>
                    <a:p>
                      <a:r>
                        <a:rPr sz="1400" b="0" i="0">
                          <a:solidFill>
                            <a:srgbClr val="1A1A2E"/>
                          </a:solidFill>
                          <a:latin typeface="Arial"/>
                        </a:rPr>
                        <a:t>Số vòng lặp tối ưu</a:t>
                      </a:r>
                    </a:p>
                  </a:txBody>
                  <a:tcPr marT="36576" marB="36576" anchor="ctr">
                    <a:solidFill>
                      <a:srgbClr val="F4F7FC"/>
                    </a:solidFill>
                  </a:tcPr>
                </a:tc>
                <a:extLst>
                  <a:ext uri="{0D108BD9-81ED-4DB2-BD59-A6C34878D82A}">
                    <a16:rowId xmlns:a16="http://schemas.microsoft.com/office/drawing/2014/main" val="10002"/>
                  </a:ext>
                </a:extLst>
              </a:tr>
              <a:tr h="429768">
                <a:tc>
                  <a:txBody>
                    <a:bodyPr/>
                    <a:lstStyle/>
                    <a:p>
                      <a:r>
                        <a:rPr sz="1400" b="1" i="0">
                          <a:solidFill>
                            <a:srgbClr val="1A1A2E"/>
                          </a:solidFill>
                          <a:latin typeface="Arial"/>
                        </a:rPr>
                        <a:t>regParam</a:t>
                      </a:r>
                    </a:p>
                  </a:txBody>
                  <a:tcPr marT="36576" marB="36576" anchor="ctr">
                    <a:solidFill>
                      <a:srgbClr val="FFFFFF"/>
                    </a:solidFill>
                  </a:tcPr>
                </a:tc>
                <a:tc>
                  <a:txBody>
                    <a:bodyPr/>
                    <a:lstStyle/>
                    <a:p>
                      <a:r>
                        <a:rPr sz="1400" b="0" i="0">
                          <a:solidFill>
                            <a:srgbClr val="1A1A2E"/>
                          </a:solidFill>
                          <a:latin typeface="Arial"/>
                        </a:rPr>
                        <a:t>0.1</a:t>
                      </a:r>
                    </a:p>
                  </a:txBody>
                  <a:tcPr marT="36576" marB="36576" anchor="ctr">
                    <a:solidFill>
                      <a:srgbClr val="FFFFFF"/>
                    </a:solidFill>
                  </a:tcPr>
                </a:tc>
                <a:tc>
                  <a:txBody>
                    <a:bodyPr/>
                    <a:lstStyle/>
                    <a:p>
                      <a:r>
                        <a:rPr sz="1400" b="0" i="0">
                          <a:solidFill>
                            <a:srgbClr val="1A1A2E"/>
                          </a:solidFill>
                          <a:latin typeface="Arial"/>
                        </a:rPr>
                        <a:t>Chống quá khớp</a:t>
                      </a:r>
                    </a:p>
                  </a:txBody>
                  <a:tcPr marT="36576" marB="36576" anchor="ctr">
                    <a:solidFill>
                      <a:srgbClr val="FFFFFF"/>
                    </a:solidFill>
                  </a:tcPr>
                </a:tc>
                <a:extLst>
                  <a:ext uri="{0D108BD9-81ED-4DB2-BD59-A6C34878D82A}">
                    <a16:rowId xmlns:a16="http://schemas.microsoft.com/office/drawing/2014/main" val="10003"/>
                  </a:ext>
                </a:extLst>
              </a:tr>
              <a:tr h="429768">
                <a:tc>
                  <a:txBody>
                    <a:bodyPr/>
                    <a:lstStyle/>
                    <a:p>
                      <a:r>
                        <a:rPr sz="1400" b="1" i="0">
                          <a:solidFill>
                            <a:srgbClr val="1A1A2E"/>
                          </a:solidFill>
                          <a:latin typeface="Arial"/>
                        </a:rPr>
                        <a:t>coldStartStrategy</a:t>
                      </a:r>
                    </a:p>
                  </a:txBody>
                  <a:tcPr marT="36576" marB="36576" anchor="ctr">
                    <a:solidFill>
                      <a:srgbClr val="F4F7FC"/>
                    </a:solidFill>
                  </a:tcPr>
                </a:tc>
                <a:tc>
                  <a:txBody>
                    <a:bodyPr/>
                    <a:lstStyle/>
                    <a:p>
                      <a:r>
                        <a:rPr sz="1400" b="0" i="0">
                          <a:solidFill>
                            <a:srgbClr val="1A1A2E"/>
                          </a:solidFill>
                          <a:latin typeface="Arial"/>
                        </a:rPr>
                        <a:t>drop</a:t>
                      </a:r>
                    </a:p>
                  </a:txBody>
                  <a:tcPr marT="36576" marB="36576" anchor="ctr">
                    <a:solidFill>
                      <a:srgbClr val="F4F7FC"/>
                    </a:solidFill>
                  </a:tcPr>
                </a:tc>
                <a:tc>
                  <a:txBody>
                    <a:bodyPr/>
                    <a:lstStyle/>
                    <a:p>
                      <a:r>
                        <a:rPr sz="1400" b="0" i="0">
                          <a:solidFill>
                            <a:srgbClr val="1A1A2E"/>
                          </a:solidFill>
                          <a:latin typeface="Arial"/>
                        </a:rPr>
                        <a:t>Bỏ người dùng/phim chưa có dữ liệu</a:t>
                      </a:r>
                    </a:p>
                  </a:txBody>
                  <a:tcPr marT="36576" marB="36576" anchor="ctr">
                    <a:solidFill>
                      <a:srgbClr val="F4F7FC"/>
                    </a:solidFill>
                  </a:tcPr>
                </a:tc>
                <a:extLst>
                  <a:ext uri="{0D108BD9-81ED-4DB2-BD59-A6C34878D82A}">
                    <a16:rowId xmlns:a16="http://schemas.microsoft.com/office/drawing/2014/main" val="10004"/>
                  </a:ext>
                </a:extLst>
              </a:tr>
              <a:tr h="429768">
                <a:tc>
                  <a:txBody>
                    <a:bodyPr/>
                    <a:lstStyle/>
                    <a:p>
                      <a:r>
                        <a:rPr sz="1400" b="1" i="0">
                          <a:solidFill>
                            <a:srgbClr val="1A1A2E"/>
                          </a:solidFill>
                          <a:latin typeface="Arial"/>
                        </a:rPr>
                        <a:t>Tập huấn luyện</a:t>
                      </a:r>
                    </a:p>
                  </a:txBody>
                  <a:tcPr marT="36576" marB="36576" anchor="ctr">
                    <a:solidFill>
                      <a:srgbClr val="FFFFFF"/>
                    </a:solidFill>
                  </a:tcPr>
                </a:tc>
                <a:tc>
                  <a:txBody>
                    <a:bodyPr/>
                    <a:lstStyle/>
                    <a:p>
                      <a:r>
                        <a:rPr sz="1400" b="0" i="0">
                          <a:solidFill>
                            <a:srgbClr val="1A1A2E"/>
                          </a:solidFill>
                          <a:latin typeface="Arial"/>
                        </a:rPr>
                        <a:t>599.530</a:t>
                      </a:r>
                    </a:p>
                  </a:txBody>
                  <a:tcPr marT="36576" marB="36576" anchor="ctr">
                    <a:solidFill>
                      <a:srgbClr val="FFFFFF"/>
                    </a:solidFill>
                  </a:tcPr>
                </a:tc>
                <a:tc>
                  <a:txBody>
                    <a:bodyPr/>
                    <a:lstStyle/>
                    <a:p>
                      <a:r>
                        <a:rPr sz="1400" b="0" i="0">
                          <a:solidFill>
                            <a:srgbClr val="1A1A2E"/>
                          </a:solidFill>
                          <a:latin typeface="Arial"/>
                        </a:rPr>
                        <a:t>80% dữ liệu mẫu</a:t>
                      </a:r>
                    </a:p>
                  </a:txBody>
                  <a:tcPr marT="36576" marB="36576" anchor="ctr">
                    <a:solidFill>
                      <a:srgbClr val="FFFFFF"/>
                    </a:solidFill>
                  </a:tcPr>
                </a:tc>
                <a:extLst>
                  <a:ext uri="{0D108BD9-81ED-4DB2-BD59-A6C34878D82A}">
                    <a16:rowId xmlns:a16="http://schemas.microsoft.com/office/drawing/2014/main" val="10005"/>
                  </a:ext>
                </a:extLst>
              </a:tr>
              <a:tr h="429768">
                <a:tc>
                  <a:txBody>
                    <a:bodyPr/>
                    <a:lstStyle/>
                    <a:p>
                      <a:r>
                        <a:rPr sz="1400" b="1" i="0">
                          <a:solidFill>
                            <a:srgbClr val="1A1A2E"/>
                          </a:solidFill>
                          <a:latin typeface="Arial"/>
                        </a:rPr>
                        <a:t>Tập kiểm tra</a:t>
                      </a:r>
                    </a:p>
                  </a:txBody>
                  <a:tcPr marT="36576" marB="36576" anchor="ctr">
                    <a:solidFill>
                      <a:srgbClr val="F4F7FC"/>
                    </a:solidFill>
                  </a:tcPr>
                </a:tc>
                <a:tc>
                  <a:txBody>
                    <a:bodyPr/>
                    <a:lstStyle/>
                    <a:p>
                      <a:r>
                        <a:rPr sz="1400" b="0" i="0">
                          <a:solidFill>
                            <a:srgbClr val="1A1A2E"/>
                          </a:solidFill>
                          <a:latin typeface="Arial"/>
                        </a:rPr>
                        <a:t>149.709</a:t>
                      </a:r>
                    </a:p>
                  </a:txBody>
                  <a:tcPr marT="36576" marB="36576" anchor="ctr">
                    <a:solidFill>
                      <a:srgbClr val="F4F7FC"/>
                    </a:solidFill>
                  </a:tcPr>
                </a:tc>
                <a:tc>
                  <a:txBody>
                    <a:bodyPr/>
                    <a:lstStyle/>
                    <a:p>
                      <a:r>
                        <a:rPr sz="1400" b="0" i="0">
                          <a:solidFill>
                            <a:srgbClr val="1A1A2E"/>
                          </a:solidFill>
                          <a:latin typeface="Arial"/>
                        </a:rPr>
                        <a:t>20% dữ liệu mẫu</a:t>
                      </a:r>
                    </a:p>
                  </a:txBody>
                  <a:tcPr marT="36576" marB="36576" anchor="ctr">
                    <a:solidFill>
                      <a:srgbClr val="F4F7FC"/>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685800" y="5029200"/>
            <a:ext cx="5852160" cy="128016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074920"/>
            <a:ext cx="5486400" cy="1188720"/>
          </a:xfrm>
          <a:prstGeom prst="rect">
            <a:avLst/>
          </a:prstGeom>
          <a:noFill/>
        </p:spPr>
        <p:txBody>
          <a:bodyPr wrap="square" lIns="0" tIns="27432" rIns="0" bIns="27432" anchor="ctr">
            <a:spAutoFit/>
          </a:bodyPr>
          <a:lstStyle/>
          <a:p>
            <a:pPr algn="l">
              <a:spcAft>
                <a:spcPts val="0"/>
              </a:spcAft>
            </a:pPr>
            <a:r>
              <a:rPr sz="1400" b="1" i="0">
                <a:solidFill>
                  <a:srgbClr val="1A1A2E"/>
                </a:solidFill>
                <a:latin typeface="Arial"/>
              </a:rPr>
              <a:t>Lọc cộng tác bằng phân rã ma trận. </a:t>
            </a:r>
            <a:r>
              <a:rPr sz="1400" b="0" i="0">
                <a:solidFill>
                  <a:srgbClr val="1A1A2E"/>
                </a:solidFill>
                <a:latin typeface="Arial"/>
              </a:rPr>
              <a:t>Do chỉ có ~1,4 GB RAM, nhóm lấy mẫu 3% đánh giá (~750.000 bản ghi) và chọn siêu tham số gọn nhẹ.</a:t>
            </a:r>
          </a:p>
        </p:txBody>
      </p:sp>
      <p:sp>
        <p:nvSpPr>
          <p:cNvPr id="8" name="Rounded Rectangle 7"/>
          <p:cNvSpPr/>
          <p:nvPr/>
        </p:nvSpPr>
        <p:spPr>
          <a:xfrm>
            <a:off x="6949440" y="1737360"/>
            <a:ext cx="2194560" cy="118872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79" y="1847088"/>
            <a:ext cx="2011679" cy="594360"/>
          </a:xfrm>
          <a:prstGeom prst="rect">
            <a:avLst/>
          </a:prstGeom>
          <a:noFill/>
        </p:spPr>
        <p:txBody>
          <a:bodyPr wrap="square" lIns="0" tIns="27432" rIns="0" bIns="27432" anchor="ctr">
            <a:spAutoFit/>
          </a:bodyPr>
          <a:lstStyle/>
          <a:p>
            <a:pPr algn="ctr">
              <a:spcAft>
                <a:spcPts val="0"/>
              </a:spcAft>
            </a:pPr>
            <a:r>
              <a:rPr sz="3000" b="1" i="0">
                <a:solidFill>
                  <a:srgbClr val="FFFFFF"/>
                </a:solidFill>
                <a:latin typeface="Arial"/>
              </a:rPr>
              <a:t>1.1870</a:t>
            </a:r>
          </a:p>
        </p:txBody>
      </p:sp>
      <p:sp>
        <p:nvSpPr>
          <p:cNvPr id="10" name="TextBox 9"/>
          <p:cNvSpPr txBox="1"/>
          <p:nvPr/>
        </p:nvSpPr>
        <p:spPr>
          <a:xfrm>
            <a:off x="7040879" y="2426817"/>
            <a:ext cx="2011679" cy="451713"/>
          </a:xfrm>
          <a:prstGeom prst="rect">
            <a:avLst/>
          </a:prstGeom>
          <a:noFill/>
        </p:spPr>
        <p:txBody>
          <a:bodyPr wrap="square" lIns="0" tIns="27432" rIns="0" bIns="27432" anchor="t">
            <a:spAutoFit/>
          </a:bodyPr>
          <a:lstStyle/>
          <a:p>
            <a:pPr algn="ctr">
              <a:spcAft>
                <a:spcPts val="0"/>
              </a:spcAft>
            </a:pPr>
            <a:r>
              <a:rPr sz="1400" b="0" i="0">
                <a:solidFill>
                  <a:srgbClr val="FFFFFF"/>
                </a:solidFill>
                <a:latin typeface="Arial"/>
              </a:rPr>
              <a:t>RMSE (thang 1–5)</a:t>
            </a:r>
          </a:p>
        </p:txBody>
      </p:sp>
      <p:sp>
        <p:nvSpPr>
          <p:cNvPr id="11" name="Rounded Rectangle 10"/>
          <p:cNvSpPr/>
          <p:nvPr/>
        </p:nvSpPr>
        <p:spPr>
          <a:xfrm>
            <a:off x="9326880" y="1737360"/>
            <a:ext cx="2194560" cy="118872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19" y="1847088"/>
            <a:ext cx="2011679" cy="594360"/>
          </a:xfrm>
          <a:prstGeom prst="rect">
            <a:avLst/>
          </a:prstGeom>
          <a:noFill/>
        </p:spPr>
        <p:txBody>
          <a:bodyPr wrap="square" lIns="0" tIns="27432" rIns="0" bIns="27432" anchor="ctr">
            <a:spAutoFit/>
          </a:bodyPr>
          <a:lstStyle/>
          <a:p>
            <a:pPr algn="ctr">
              <a:spcAft>
                <a:spcPts val="0"/>
              </a:spcAft>
            </a:pPr>
            <a:r>
              <a:rPr sz="3000" b="1" i="0">
                <a:solidFill>
                  <a:srgbClr val="1A478A"/>
                </a:solidFill>
                <a:latin typeface="Arial"/>
              </a:rPr>
              <a:t>92,3 giây</a:t>
            </a:r>
          </a:p>
        </p:txBody>
      </p:sp>
      <p:sp>
        <p:nvSpPr>
          <p:cNvPr id="13" name="TextBox 12"/>
          <p:cNvSpPr txBox="1"/>
          <p:nvPr/>
        </p:nvSpPr>
        <p:spPr>
          <a:xfrm>
            <a:off x="9418319" y="2426817"/>
            <a:ext cx="2011679" cy="451713"/>
          </a:xfrm>
          <a:prstGeom prst="rect">
            <a:avLst/>
          </a:prstGeom>
          <a:noFill/>
        </p:spPr>
        <p:txBody>
          <a:bodyPr wrap="square" lIns="0" tIns="27432" rIns="0" bIns="27432" anchor="t">
            <a:spAutoFit/>
          </a:bodyPr>
          <a:lstStyle/>
          <a:p>
            <a:pPr algn="ctr">
              <a:spcAft>
                <a:spcPts val="0"/>
              </a:spcAft>
            </a:pPr>
            <a:r>
              <a:rPr sz="1400" b="0" i="0">
                <a:solidFill>
                  <a:srgbClr val="555555"/>
                </a:solidFill>
                <a:latin typeface="Arial"/>
              </a:rPr>
              <a:t>huấn luyện + sinh gợi ý</a:t>
            </a:r>
          </a:p>
        </p:txBody>
      </p:sp>
      <p:pic>
        <p:nvPicPr>
          <p:cNvPr id="14" name="Picture 13" descr="Kết quả huấn luyện mô hình ALS và RMSE"/>
          <p:cNvPicPr>
            <a:picLocks noChangeAspect="1"/>
          </p:cNvPicPr>
          <p:nvPr/>
        </p:nvPicPr>
        <p:blipFill>
          <a:blip r:embed="rId4"/>
          <a:stretch>
            <a:fillRect/>
          </a:stretch>
        </p:blipFill>
        <p:spPr>
          <a:xfrm>
            <a:off x="7346343" y="3154680"/>
            <a:ext cx="3778193" cy="3154680"/>
          </a:xfrm>
          <a:prstGeom prst="rect">
            <a:avLst/>
          </a:prstGeom>
          <a:ln w="9525">
            <a:solidFill>
              <a:srgbClr val="C9D3E6"/>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7: GỢI Ý LƯU VÀO TẦNG GOLD</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graphicFrame>
        <p:nvGraphicFramePr>
          <p:cNvPr id="5" name="Table 4"/>
          <p:cNvGraphicFramePr>
            <a:graphicFrameLocks noGrp="1"/>
          </p:cNvGraphicFramePr>
          <p:nvPr/>
        </p:nvGraphicFramePr>
        <p:xfrm>
          <a:off x="685800" y="1737360"/>
          <a:ext cx="10835640" cy="27432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57200">
                <a:tc>
                  <a:txBody>
                    <a:bodyPr/>
                    <a:lstStyle/>
                    <a:p>
                      <a:pPr algn="ctr"/>
                      <a:r>
                        <a:rPr sz="1400" b="1" i="0">
                          <a:solidFill>
                            <a:srgbClr val="FFFFFF"/>
                          </a:solidFill>
                          <a:latin typeface="Arial"/>
                        </a:rPr>
                        <a:t>userId</a:t>
                      </a:r>
                    </a:p>
                  </a:txBody>
                  <a:tcPr marT="36576" marB="36576" anchor="ctr">
                    <a:solidFill>
                      <a:srgbClr val="1A478A"/>
                    </a:solidFill>
                  </a:tcPr>
                </a:tc>
                <a:tc>
                  <a:txBody>
                    <a:bodyPr/>
                    <a:lstStyle/>
                    <a:p>
                      <a:pPr algn="ctr"/>
                      <a:r>
                        <a:rPr sz="1400" b="1" i="0">
                          <a:solidFill>
                            <a:srgbClr val="FFFFFF"/>
                          </a:solidFill>
                          <a:latin typeface="Arial"/>
                        </a:rPr>
                        <a:t>movieId</a:t>
                      </a:r>
                    </a:p>
                  </a:txBody>
                  <a:tcPr marT="36576" marB="36576" anchor="ctr">
                    <a:solidFill>
                      <a:srgbClr val="1A478A"/>
                    </a:solidFill>
                  </a:tcPr>
                </a:tc>
                <a:tc>
                  <a:txBody>
                    <a:bodyPr/>
                    <a:lstStyle/>
                    <a:p>
                      <a:pPr algn="l"/>
                      <a:r>
                        <a:rPr sz="1400" b="1" i="0">
                          <a:solidFill>
                            <a:srgbClr val="FFFFFF"/>
                          </a:solidFill>
                          <a:latin typeface="Arial"/>
                        </a:rPr>
                        <a:t>Tên phim</a:t>
                      </a:r>
                    </a:p>
                  </a:txBody>
                  <a:tcPr marT="36576" marB="36576" anchor="ctr">
                    <a:solidFill>
                      <a:srgbClr val="1A478A"/>
                    </a:solidFill>
                  </a:tcPr>
                </a:tc>
                <a:tc>
                  <a:txBody>
                    <a:bodyPr/>
                    <a:lstStyle/>
                    <a:p>
                      <a:pPr algn="l"/>
                      <a:r>
                        <a:rPr sz="1400" b="1" i="0">
                          <a:solidFill>
                            <a:srgbClr val="FFFFFF"/>
                          </a:solidFill>
                          <a:latin typeface="Arial"/>
                        </a:rPr>
                        <a:t>Thể loại</a:t>
                      </a:r>
                    </a:p>
                  </a:txBody>
                  <a:tcPr marT="36576" marB="36576" anchor="ctr">
                    <a:solidFill>
                      <a:srgbClr val="1A478A"/>
                    </a:solidFill>
                  </a:tcPr>
                </a:tc>
                <a:tc>
                  <a:txBody>
                    <a:bodyPr/>
                    <a:lstStyle/>
                    <a:p>
                      <a:pPr algn="ctr"/>
                      <a:r>
                        <a:rPr sz="1400" b="1" i="0">
                          <a:solidFill>
                            <a:srgbClr val="FFFFFF"/>
                          </a:solidFill>
                          <a:latin typeface="Arial"/>
                        </a:rPr>
                        <a:t>Điểm dự đoán</a:t>
                      </a:r>
                    </a:p>
                  </a:txBody>
                  <a:tcPr marT="36576" marB="36576" anchor="ctr">
                    <a:solidFill>
                      <a:srgbClr val="1A478A"/>
                    </a:solidFill>
                  </a:tcPr>
                </a:tc>
                <a:extLst>
                  <a:ext uri="{0D108BD9-81ED-4DB2-BD59-A6C34878D82A}">
                    <a16:rowId xmlns:a16="http://schemas.microsoft.com/office/drawing/2014/main" val="10000"/>
                  </a:ext>
                </a:extLst>
              </a:tr>
              <a:tr h="457200">
                <a:tc>
                  <a:txBody>
                    <a:bodyPr/>
                    <a:lstStyle/>
                    <a:p>
                      <a:pPr algn="ctr"/>
                      <a:r>
                        <a:rPr sz="1400" b="0" i="0">
                          <a:solidFill>
                            <a:srgbClr val="1A1A2E"/>
                          </a:solidFill>
                          <a:latin typeface="Arial"/>
                        </a:rPr>
                        <a:t>95</a:t>
                      </a:r>
                    </a:p>
                  </a:txBody>
                  <a:tcPr marT="36576" marB="36576" anchor="ctr">
                    <a:solidFill>
                      <a:srgbClr val="FFFFFF"/>
                    </a:solidFill>
                  </a:tcPr>
                </a:tc>
                <a:tc>
                  <a:txBody>
                    <a:bodyPr/>
                    <a:lstStyle/>
                    <a:p>
                      <a:pPr algn="ctr"/>
                      <a:r>
                        <a:rPr sz="1400" b="0" i="0">
                          <a:solidFill>
                            <a:srgbClr val="1A1A2E"/>
                          </a:solidFill>
                          <a:latin typeface="Arial"/>
                        </a:rPr>
                        <a:t>162968</a:t>
                      </a:r>
                    </a:p>
                  </a:txBody>
                  <a:tcPr marT="36576" marB="36576" anchor="ctr">
                    <a:solidFill>
                      <a:srgbClr val="FFFFFF"/>
                    </a:solidFill>
                  </a:tcPr>
                </a:tc>
                <a:tc>
                  <a:txBody>
                    <a:bodyPr/>
                    <a:lstStyle/>
                    <a:p>
                      <a:pPr algn="l"/>
                      <a:r>
                        <a:rPr sz="1400" b="0" i="0">
                          <a:solidFill>
                            <a:srgbClr val="1A1A2E"/>
                          </a:solidFill>
                          <a:latin typeface="Arial"/>
                        </a:rPr>
                        <a:t>Kizumonogatari Part 1: Tekketsu (2016)</a:t>
                      </a:r>
                    </a:p>
                  </a:txBody>
                  <a:tcPr marT="36576" marB="36576" anchor="ctr">
                    <a:solidFill>
                      <a:srgbClr val="FFFFFF"/>
                    </a:solidFill>
                  </a:tcPr>
                </a:tc>
                <a:tc>
                  <a:txBody>
                    <a:bodyPr/>
                    <a:lstStyle/>
                    <a:p>
                      <a:pPr algn="l"/>
                      <a:r>
                        <a:rPr sz="1400" b="0" i="0">
                          <a:solidFill>
                            <a:srgbClr val="1A1A2E"/>
                          </a:solidFill>
                          <a:latin typeface="Arial"/>
                        </a:rPr>
                        <a:t>Action|Animation|Mystery</a:t>
                      </a:r>
                    </a:p>
                  </a:txBody>
                  <a:tcPr marT="36576" marB="36576" anchor="ctr">
                    <a:solidFill>
                      <a:srgbClr val="FFFFFF"/>
                    </a:solidFill>
                  </a:tcPr>
                </a:tc>
                <a:tc>
                  <a:txBody>
                    <a:bodyPr/>
                    <a:lstStyle/>
                    <a:p>
                      <a:pPr algn="ctr"/>
                      <a:r>
                        <a:rPr sz="1400" b="0" i="0">
                          <a:solidFill>
                            <a:srgbClr val="1A1A2E"/>
                          </a:solidFill>
                          <a:latin typeface="Arial"/>
                        </a:rPr>
                        <a:t>7.10</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pPr algn="ctr"/>
                      <a:r>
                        <a:rPr sz="1400" b="0" i="0">
                          <a:solidFill>
                            <a:srgbClr val="1A1A2E"/>
                          </a:solidFill>
                          <a:latin typeface="Arial"/>
                        </a:rPr>
                        <a:t>95</a:t>
                      </a:r>
                    </a:p>
                  </a:txBody>
                  <a:tcPr marT="36576" marB="36576" anchor="ctr">
                    <a:solidFill>
                      <a:srgbClr val="F4F7FC"/>
                    </a:solidFill>
                  </a:tcPr>
                </a:tc>
                <a:tc>
                  <a:txBody>
                    <a:bodyPr/>
                    <a:lstStyle/>
                    <a:p>
                      <a:pPr algn="ctr"/>
                      <a:r>
                        <a:rPr sz="1400" b="0" i="0">
                          <a:solidFill>
                            <a:srgbClr val="1A1A2E"/>
                          </a:solidFill>
                          <a:latin typeface="Arial"/>
                        </a:rPr>
                        <a:t>36086</a:t>
                      </a:r>
                    </a:p>
                  </a:txBody>
                  <a:tcPr marT="36576" marB="36576" anchor="ctr">
                    <a:solidFill>
                      <a:srgbClr val="F4F7FC"/>
                    </a:solidFill>
                  </a:tcPr>
                </a:tc>
                <a:tc>
                  <a:txBody>
                    <a:bodyPr/>
                    <a:lstStyle/>
                    <a:p>
                      <a:pPr algn="l"/>
                      <a:r>
                        <a:rPr sz="1400" b="0" i="0">
                          <a:solidFill>
                            <a:srgbClr val="1A1A2E"/>
                          </a:solidFill>
                          <a:latin typeface="Arial"/>
                        </a:rPr>
                        <a:t>Dilwale Dulhania Le Jayenge (1995)</a:t>
                      </a:r>
                    </a:p>
                  </a:txBody>
                  <a:tcPr marT="36576" marB="36576" anchor="ctr">
                    <a:solidFill>
                      <a:srgbClr val="F4F7FC"/>
                    </a:solidFill>
                  </a:tcPr>
                </a:tc>
                <a:tc>
                  <a:txBody>
                    <a:bodyPr/>
                    <a:lstStyle/>
                    <a:p>
                      <a:pPr algn="l"/>
                      <a:r>
                        <a:rPr sz="1400" b="0" i="0">
                          <a:solidFill>
                            <a:srgbClr val="1A1A2E"/>
                          </a:solidFill>
                          <a:latin typeface="Arial"/>
                        </a:rPr>
                        <a:t>Comedy|Musical|Romance</a:t>
                      </a:r>
                    </a:p>
                  </a:txBody>
                  <a:tcPr marT="36576" marB="36576" anchor="ctr">
                    <a:solidFill>
                      <a:srgbClr val="F4F7FC"/>
                    </a:solidFill>
                  </a:tcPr>
                </a:tc>
                <a:tc>
                  <a:txBody>
                    <a:bodyPr/>
                    <a:lstStyle/>
                    <a:p>
                      <a:pPr algn="ctr"/>
                      <a:r>
                        <a:rPr sz="1400" b="0" i="0">
                          <a:solidFill>
                            <a:srgbClr val="1A1A2E"/>
                          </a:solidFill>
                          <a:latin typeface="Arial"/>
                        </a:rPr>
                        <a:t>6.68</a:t>
                      </a:r>
                    </a:p>
                  </a:txBody>
                  <a:tcPr marT="36576" marB="36576" anchor="ctr">
                    <a:solidFill>
                      <a:srgbClr val="F4F7FC"/>
                    </a:solidFill>
                  </a:tcPr>
                </a:tc>
                <a:extLst>
                  <a:ext uri="{0D108BD9-81ED-4DB2-BD59-A6C34878D82A}">
                    <a16:rowId xmlns:a16="http://schemas.microsoft.com/office/drawing/2014/main" val="10002"/>
                  </a:ext>
                </a:extLst>
              </a:tr>
              <a:tr h="457200">
                <a:tc>
                  <a:txBody>
                    <a:bodyPr/>
                    <a:lstStyle/>
                    <a:p>
                      <a:pPr algn="ctr"/>
                      <a:r>
                        <a:rPr sz="1400" b="0" i="0">
                          <a:solidFill>
                            <a:srgbClr val="1A1A2E"/>
                          </a:solidFill>
                          <a:latin typeface="Arial"/>
                        </a:rPr>
                        <a:t>95</a:t>
                      </a:r>
                    </a:p>
                  </a:txBody>
                  <a:tcPr marT="36576" marB="36576" anchor="ctr">
                    <a:solidFill>
                      <a:srgbClr val="FFFFFF"/>
                    </a:solidFill>
                  </a:tcPr>
                </a:tc>
                <a:tc>
                  <a:txBody>
                    <a:bodyPr/>
                    <a:lstStyle/>
                    <a:p>
                      <a:pPr algn="ctr"/>
                      <a:r>
                        <a:rPr sz="1400" b="0" i="0">
                          <a:solidFill>
                            <a:srgbClr val="1A1A2E"/>
                          </a:solidFill>
                          <a:latin typeface="Arial"/>
                        </a:rPr>
                        <a:t>187065</a:t>
                      </a:r>
                    </a:p>
                  </a:txBody>
                  <a:tcPr marT="36576" marB="36576" anchor="ctr">
                    <a:solidFill>
                      <a:srgbClr val="FFFFFF"/>
                    </a:solidFill>
                  </a:tcPr>
                </a:tc>
                <a:tc>
                  <a:txBody>
                    <a:bodyPr/>
                    <a:lstStyle/>
                    <a:p>
                      <a:pPr algn="l"/>
                      <a:r>
                        <a:rPr sz="1400" b="0" i="0">
                          <a:solidFill>
                            <a:srgbClr val="1A1A2E"/>
                          </a:solidFill>
                          <a:latin typeface="Arial"/>
                        </a:rPr>
                        <a:t>Attack Of The Southern Fried Zombies (2017)</a:t>
                      </a:r>
                    </a:p>
                  </a:txBody>
                  <a:tcPr marT="36576" marB="36576" anchor="ctr">
                    <a:solidFill>
                      <a:srgbClr val="FFFFFF"/>
                    </a:solidFill>
                  </a:tcPr>
                </a:tc>
                <a:tc>
                  <a:txBody>
                    <a:bodyPr/>
                    <a:lstStyle/>
                    <a:p>
                      <a:pPr algn="l"/>
                      <a:r>
                        <a:rPr sz="1400" b="0" i="0">
                          <a:solidFill>
                            <a:srgbClr val="1A1A2E"/>
                          </a:solidFill>
                          <a:latin typeface="Arial"/>
                        </a:rPr>
                        <a:t>Horror</a:t>
                      </a:r>
                    </a:p>
                  </a:txBody>
                  <a:tcPr marT="36576" marB="36576" anchor="ctr">
                    <a:solidFill>
                      <a:srgbClr val="FFFFFF"/>
                    </a:solidFill>
                  </a:tcPr>
                </a:tc>
                <a:tc>
                  <a:txBody>
                    <a:bodyPr/>
                    <a:lstStyle/>
                    <a:p>
                      <a:pPr algn="ctr"/>
                      <a:r>
                        <a:rPr sz="1400" b="0" i="0">
                          <a:solidFill>
                            <a:srgbClr val="1A1A2E"/>
                          </a:solidFill>
                          <a:latin typeface="Arial"/>
                        </a:rPr>
                        <a:t>6.40</a:t>
                      </a:r>
                    </a:p>
                  </a:txBody>
                  <a:tcPr marT="36576" marB="36576" anchor="ctr">
                    <a:solidFill>
                      <a:srgbClr val="FFFFFF"/>
                    </a:solidFill>
                  </a:tcPr>
                </a:tc>
                <a:extLst>
                  <a:ext uri="{0D108BD9-81ED-4DB2-BD59-A6C34878D82A}">
                    <a16:rowId xmlns:a16="http://schemas.microsoft.com/office/drawing/2014/main" val="10003"/>
                  </a:ext>
                </a:extLst>
              </a:tr>
              <a:tr h="457200">
                <a:tc>
                  <a:txBody>
                    <a:bodyPr/>
                    <a:lstStyle/>
                    <a:p>
                      <a:pPr algn="ctr"/>
                      <a:r>
                        <a:rPr sz="1400" b="0" i="0">
                          <a:solidFill>
                            <a:srgbClr val="1A1A2E"/>
                          </a:solidFill>
                          <a:latin typeface="Arial"/>
                        </a:rPr>
                        <a:t>148</a:t>
                      </a:r>
                    </a:p>
                  </a:txBody>
                  <a:tcPr marT="36576" marB="36576" anchor="ctr">
                    <a:solidFill>
                      <a:srgbClr val="F4F7FC"/>
                    </a:solidFill>
                  </a:tcPr>
                </a:tc>
                <a:tc>
                  <a:txBody>
                    <a:bodyPr/>
                    <a:lstStyle/>
                    <a:p>
                      <a:pPr algn="ctr"/>
                      <a:r>
                        <a:rPr sz="1400" b="0" i="0">
                          <a:solidFill>
                            <a:srgbClr val="1A1A2E"/>
                          </a:solidFill>
                          <a:latin typeface="Arial"/>
                        </a:rPr>
                        <a:t>162968</a:t>
                      </a:r>
                    </a:p>
                  </a:txBody>
                  <a:tcPr marT="36576" marB="36576" anchor="ctr">
                    <a:solidFill>
                      <a:srgbClr val="F4F7FC"/>
                    </a:solidFill>
                  </a:tcPr>
                </a:tc>
                <a:tc>
                  <a:txBody>
                    <a:bodyPr/>
                    <a:lstStyle/>
                    <a:p>
                      <a:pPr algn="l"/>
                      <a:r>
                        <a:rPr sz="1400" b="0" i="0">
                          <a:solidFill>
                            <a:srgbClr val="1A1A2E"/>
                          </a:solidFill>
                          <a:latin typeface="Arial"/>
                        </a:rPr>
                        <a:t>Kizumonogatari Part 1: Tekketsu (2016)</a:t>
                      </a:r>
                    </a:p>
                  </a:txBody>
                  <a:tcPr marT="36576" marB="36576" anchor="ctr">
                    <a:solidFill>
                      <a:srgbClr val="F4F7FC"/>
                    </a:solidFill>
                  </a:tcPr>
                </a:tc>
                <a:tc>
                  <a:txBody>
                    <a:bodyPr/>
                    <a:lstStyle/>
                    <a:p>
                      <a:pPr algn="l"/>
                      <a:r>
                        <a:rPr sz="1400" b="0" i="0">
                          <a:solidFill>
                            <a:srgbClr val="1A1A2E"/>
                          </a:solidFill>
                          <a:latin typeface="Arial"/>
                        </a:rPr>
                        <a:t>Action|Animation|Mystery</a:t>
                      </a:r>
                    </a:p>
                  </a:txBody>
                  <a:tcPr marT="36576" marB="36576" anchor="ctr">
                    <a:solidFill>
                      <a:srgbClr val="F4F7FC"/>
                    </a:solidFill>
                  </a:tcPr>
                </a:tc>
                <a:tc>
                  <a:txBody>
                    <a:bodyPr/>
                    <a:lstStyle/>
                    <a:p>
                      <a:pPr algn="ctr"/>
                      <a:r>
                        <a:rPr sz="1400" b="0" i="0">
                          <a:solidFill>
                            <a:srgbClr val="1A1A2E"/>
                          </a:solidFill>
                          <a:latin typeface="Arial"/>
                        </a:rPr>
                        <a:t>7.89</a:t>
                      </a:r>
                    </a:p>
                  </a:txBody>
                  <a:tcPr marT="36576" marB="36576" anchor="ctr">
                    <a:solidFill>
                      <a:srgbClr val="F4F7FC"/>
                    </a:solidFill>
                  </a:tcPr>
                </a:tc>
                <a:extLst>
                  <a:ext uri="{0D108BD9-81ED-4DB2-BD59-A6C34878D82A}">
                    <a16:rowId xmlns:a16="http://schemas.microsoft.com/office/drawing/2014/main" val="10004"/>
                  </a:ext>
                </a:extLst>
              </a:tr>
              <a:tr h="457200">
                <a:tc>
                  <a:txBody>
                    <a:bodyPr/>
                    <a:lstStyle/>
                    <a:p>
                      <a:pPr algn="ctr"/>
                      <a:r>
                        <a:rPr sz="1400" b="0" i="0">
                          <a:solidFill>
                            <a:srgbClr val="1A1A2E"/>
                          </a:solidFill>
                          <a:latin typeface="Arial"/>
                        </a:rPr>
                        <a:t>148</a:t>
                      </a:r>
                    </a:p>
                  </a:txBody>
                  <a:tcPr marT="36576" marB="36576" anchor="ctr">
                    <a:solidFill>
                      <a:srgbClr val="FFFFFF"/>
                    </a:solidFill>
                  </a:tcPr>
                </a:tc>
                <a:tc>
                  <a:txBody>
                    <a:bodyPr/>
                    <a:lstStyle/>
                    <a:p>
                      <a:pPr algn="ctr"/>
                      <a:r>
                        <a:rPr sz="1400" b="0" i="0">
                          <a:solidFill>
                            <a:srgbClr val="1A1A2E"/>
                          </a:solidFill>
                          <a:latin typeface="Arial"/>
                        </a:rPr>
                        <a:t>144712</a:t>
                      </a:r>
                    </a:p>
                  </a:txBody>
                  <a:tcPr marT="36576" marB="36576" anchor="ctr">
                    <a:solidFill>
                      <a:srgbClr val="FFFFFF"/>
                    </a:solidFill>
                  </a:tcPr>
                </a:tc>
                <a:tc>
                  <a:txBody>
                    <a:bodyPr/>
                    <a:lstStyle/>
                    <a:p>
                      <a:pPr algn="l"/>
                      <a:r>
                        <a:rPr sz="1400" b="0" i="0">
                          <a:solidFill>
                            <a:srgbClr val="1A1A2E"/>
                          </a:solidFill>
                          <a:latin typeface="Arial"/>
                        </a:rPr>
                        <a:t>Unity (2015)</a:t>
                      </a:r>
                    </a:p>
                  </a:txBody>
                  <a:tcPr marT="36576" marB="36576" anchor="ctr">
                    <a:solidFill>
                      <a:srgbClr val="FFFFFF"/>
                    </a:solidFill>
                  </a:tcPr>
                </a:tc>
                <a:tc>
                  <a:txBody>
                    <a:bodyPr/>
                    <a:lstStyle/>
                    <a:p>
                      <a:pPr algn="l"/>
                      <a:r>
                        <a:rPr sz="1400" b="0" i="0">
                          <a:solidFill>
                            <a:srgbClr val="1A1A2E"/>
                          </a:solidFill>
                          <a:latin typeface="Arial"/>
                        </a:rPr>
                        <a:t>Documentary</a:t>
                      </a:r>
                    </a:p>
                  </a:txBody>
                  <a:tcPr marT="36576" marB="36576" anchor="ctr">
                    <a:solidFill>
                      <a:srgbClr val="FFFFFF"/>
                    </a:solidFill>
                  </a:tcPr>
                </a:tc>
                <a:tc>
                  <a:txBody>
                    <a:bodyPr/>
                    <a:lstStyle/>
                    <a:p>
                      <a:pPr algn="ctr"/>
                      <a:r>
                        <a:rPr sz="1400" b="0" i="0">
                          <a:solidFill>
                            <a:srgbClr val="1A1A2E"/>
                          </a:solidFill>
                          <a:latin typeface="Arial"/>
                        </a:rPr>
                        <a:t>6.98</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685800" y="4663440"/>
            <a:ext cx="2331720" cy="86868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681728"/>
            <a:ext cx="2240279" cy="457200"/>
          </a:xfrm>
          <a:prstGeom prst="rect">
            <a:avLst/>
          </a:prstGeom>
          <a:noFill/>
        </p:spPr>
        <p:txBody>
          <a:bodyPr wrap="square" lIns="0" tIns="27432" rIns="0" bIns="27432" anchor="b">
            <a:spAutoFit/>
          </a:bodyPr>
          <a:lstStyle/>
          <a:p>
            <a:pPr algn="ctr">
              <a:spcAft>
                <a:spcPts val="0"/>
              </a:spcAft>
            </a:pPr>
            <a:r>
              <a:rPr sz="1400" b="1" i="0">
                <a:solidFill>
                  <a:srgbClr val="0D2B6E"/>
                </a:solidFill>
                <a:latin typeface="Arial"/>
              </a:rPr>
              <a:t>Sinh Top 5 gợi ý</a:t>
            </a:r>
          </a:p>
        </p:txBody>
      </p:sp>
      <p:sp>
        <p:nvSpPr>
          <p:cNvPr id="8" name="TextBox 7"/>
          <p:cNvSpPr txBox="1"/>
          <p:nvPr/>
        </p:nvSpPr>
        <p:spPr>
          <a:xfrm>
            <a:off x="731520" y="5138928"/>
            <a:ext cx="2240279" cy="365760"/>
          </a:xfrm>
          <a:prstGeom prst="rect">
            <a:avLst/>
          </a:prstGeom>
          <a:noFill/>
        </p:spPr>
        <p:txBody>
          <a:bodyPr wrap="square" lIns="0" tIns="27432" rIns="0" bIns="27432" anchor="t">
            <a:spAutoFit/>
          </a:bodyPr>
          <a:lstStyle/>
          <a:p>
            <a:pPr algn="ctr">
              <a:spcAft>
                <a:spcPts val="0"/>
              </a:spcAft>
            </a:pPr>
            <a:r>
              <a:rPr sz="1200" b="0" i="0">
                <a:solidFill>
                  <a:srgbClr val="555555"/>
                </a:solidFill>
                <a:latin typeface="Arial"/>
              </a:rPr>
              <a:t>recommendForUserSubset()</a:t>
            </a:r>
          </a:p>
        </p:txBody>
      </p:sp>
      <p:sp>
        <p:nvSpPr>
          <p:cNvPr id="9" name="Right Arrow 8"/>
          <p:cNvSpPr/>
          <p:nvPr/>
        </p:nvSpPr>
        <p:spPr>
          <a:xfrm>
            <a:off x="3072384" y="4983480"/>
            <a:ext cx="393192"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20440" y="4663440"/>
            <a:ext cx="2331720" cy="86868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66160" y="4681728"/>
            <a:ext cx="2240279" cy="457200"/>
          </a:xfrm>
          <a:prstGeom prst="rect">
            <a:avLst/>
          </a:prstGeom>
          <a:noFill/>
        </p:spPr>
        <p:txBody>
          <a:bodyPr wrap="square" lIns="0" tIns="27432" rIns="0" bIns="27432" anchor="b">
            <a:spAutoFit/>
          </a:bodyPr>
          <a:lstStyle/>
          <a:p>
            <a:pPr algn="ctr">
              <a:spcAft>
                <a:spcPts val="0"/>
              </a:spcAft>
            </a:pPr>
            <a:r>
              <a:rPr sz="1400" b="1" i="0">
                <a:solidFill>
                  <a:srgbClr val="0D2B6E"/>
                </a:solidFill>
                <a:latin typeface="Arial"/>
              </a:rPr>
              <a:t>Tách mảng</a:t>
            </a:r>
          </a:p>
        </p:txBody>
      </p:sp>
      <p:sp>
        <p:nvSpPr>
          <p:cNvPr id="12" name="TextBox 11"/>
          <p:cNvSpPr txBox="1"/>
          <p:nvPr/>
        </p:nvSpPr>
        <p:spPr>
          <a:xfrm>
            <a:off x="3566160" y="5138928"/>
            <a:ext cx="2240279" cy="365760"/>
          </a:xfrm>
          <a:prstGeom prst="rect">
            <a:avLst/>
          </a:prstGeom>
          <a:noFill/>
        </p:spPr>
        <p:txBody>
          <a:bodyPr wrap="square" lIns="0" tIns="27432" rIns="0" bIns="27432" anchor="t">
            <a:spAutoFit/>
          </a:bodyPr>
          <a:lstStyle/>
          <a:p>
            <a:pPr algn="ctr">
              <a:spcAft>
                <a:spcPts val="0"/>
              </a:spcAft>
            </a:pPr>
            <a:r>
              <a:rPr sz="1200" b="0" i="0">
                <a:solidFill>
                  <a:srgbClr val="555555"/>
                </a:solidFill>
                <a:latin typeface="Arial"/>
              </a:rPr>
              <a:t>explode</a:t>
            </a:r>
          </a:p>
        </p:txBody>
      </p:sp>
      <p:sp>
        <p:nvSpPr>
          <p:cNvPr id="13" name="Right Arrow 12"/>
          <p:cNvSpPr/>
          <p:nvPr/>
        </p:nvSpPr>
        <p:spPr>
          <a:xfrm>
            <a:off x="5907024" y="4983480"/>
            <a:ext cx="393192"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55080" y="4663440"/>
            <a:ext cx="2331720" cy="86868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681728"/>
            <a:ext cx="2240279" cy="457200"/>
          </a:xfrm>
          <a:prstGeom prst="rect">
            <a:avLst/>
          </a:prstGeom>
          <a:noFill/>
        </p:spPr>
        <p:txBody>
          <a:bodyPr wrap="square" lIns="0" tIns="27432" rIns="0" bIns="27432" anchor="b">
            <a:spAutoFit/>
          </a:bodyPr>
          <a:lstStyle/>
          <a:p>
            <a:pPr algn="ctr">
              <a:spcAft>
                <a:spcPts val="0"/>
              </a:spcAft>
            </a:pPr>
            <a:r>
              <a:rPr sz="1400" b="1" i="0">
                <a:solidFill>
                  <a:srgbClr val="0D2B6E"/>
                </a:solidFill>
                <a:latin typeface="Arial"/>
              </a:rPr>
              <a:t>Bổ sung tên, thể loại</a:t>
            </a:r>
          </a:p>
        </p:txBody>
      </p:sp>
      <p:sp>
        <p:nvSpPr>
          <p:cNvPr id="16" name="TextBox 15"/>
          <p:cNvSpPr txBox="1"/>
          <p:nvPr/>
        </p:nvSpPr>
        <p:spPr>
          <a:xfrm>
            <a:off x="6400800" y="5138928"/>
            <a:ext cx="2240279" cy="365760"/>
          </a:xfrm>
          <a:prstGeom prst="rect">
            <a:avLst/>
          </a:prstGeom>
          <a:noFill/>
        </p:spPr>
        <p:txBody>
          <a:bodyPr wrap="square" lIns="0" tIns="27432" rIns="0" bIns="27432" anchor="t">
            <a:spAutoFit/>
          </a:bodyPr>
          <a:lstStyle/>
          <a:p>
            <a:pPr algn="ctr">
              <a:spcAft>
                <a:spcPts val="0"/>
              </a:spcAft>
            </a:pPr>
            <a:r>
              <a:rPr sz="1200" b="0" i="0">
                <a:solidFill>
                  <a:srgbClr val="555555"/>
                </a:solidFill>
                <a:latin typeface="Arial"/>
              </a:rPr>
              <a:t>join bảng phim Silver</a:t>
            </a:r>
          </a:p>
        </p:txBody>
      </p:sp>
      <p:sp>
        <p:nvSpPr>
          <p:cNvPr id="17" name="Right Arrow 16"/>
          <p:cNvSpPr/>
          <p:nvPr/>
        </p:nvSpPr>
        <p:spPr>
          <a:xfrm>
            <a:off x="8741664" y="4983480"/>
            <a:ext cx="393192"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89720" y="4663440"/>
            <a:ext cx="2331720" cy="86868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4681728"/>
            <a:ext cx="2240279" cy="457200"/>
          </a:xfrm>
          <a:prstGeom prst="rect">
            <a:avLst/>
          </a:prstGeom>
          <a:noFill/>
        </p:spPr>
        <p:txBody>
          <a:bodyPr wrap="square" lIns="0" tIns="27432" rIns="0" bIns="27432" anchor="b">
            <a:spAutoFit/>
          </a:bodyPr>
          <a:lstStyle/>
          <a:p>
            <a:pPr algn="ctr">
              <a:spcAft>
                <a:spcPts val="0"/>
              </a:spcAft>
            </a:pPr>
            <a:r>
              <a:rPr sz="1400" b="1" i="0">
                <a:solidFill>
                  <a:srgbClr val="FFFFFF"/>
                </a:solidFill>
                <a:latin typeface="Arial"/>
              </a:rPr>
              <a:t>Ghi tầng Gold</a:t>
            </a:r>
          </a:p>
        </p:txBody>
      </p:sp>
      <p:sp>
        <p:nvSpPr>
          <p:cNvPr id="20" name="TextBox 19"/>
          <p:cNvSpPr txBox="1"/>
          <p:nvPr/>
        </p:nvSpPr>
        <p:spPr>
          <a:xfrm>
            <a:off x="9235440" y="5138928"/>
            <a:ext cx="2240279" cy="365760"/>
          </a:xfrm>
          <a:prstGeom prst="rect">
            <a:avLst/>
          </a:prstGeom>
          <a:noFill/>
        </p:spPr>
        <p:txBody>
          <a:bodyPr wrap="square" lIns="0" tIns="27432" rIns="0" bIns="27432" anchor="t">
            <a:spAutoFit/>
          </a:bodyPr>
          <a:lstStyle/>
          <a:p>
            <a:pPr algn="ctr">
              <a:spcAft>
                <a:spcPts val="0"/>
              </a:spcAft>
            </a:pPr>
            <a:r>
              <a:rPr sz="1200" b="0" i="0">
                <a:solidFill>
                  <a:srgbClr val="FFFFFF"/>
                </a:solidFill>
                <a:latin typeface="Arial"/>
              </a:rPr>
              <a:t>Parquet trên HDFS</a:t>
            </a:r>
          </a:p>
        </p:txBody>
      </p:sp>
      <p:pic>
        <p:nvPicPr>
          <p:cNvPr id="21" name="Picture 20" descr="Dữ liệu gợi ý tầng Gold trên HDFS"/>
          <p:cNvPicPr>
            <a:picLocks noChangeAspect="1"/>
          </p:cNvPicPr>
          <p:nvPr/>
        </p:nvPicPr>
        <p:blipFill>
          <a:blip r:embed="rId4"/>
          <a:stretch>
            <a:fillRect/>
          </a:stretch>
        </p:blipFill>
        <p:spPr>
          <a:xfrm>
            <a:off x="685800" y="5715000"/>
            <a:ext cx="8945118" cy="594360"/>
          </a:xfrm>
          <a:prstGeom prst="rect">
            <a:avLst/>
          </a:prstGeom>
          <a:ln w="9525">
            <a:solidFill>
              <a:srgbClr val="C9D3E6"/>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8: KAFKA THỜI GIAN THỰC</a:t>
            </a:r>
          </a:p>
        </p:txBody>
      </p:sp>
      <p:sp>
        <p:nvSpPr>
          <p:cNvPr id="4" name="Rounded Rectangle 3"/>
          <p:cNvSpPr/>
          <p:nvPr/>
        </p:nvSpPr>
        <p:spPr>
          <a:xfrm>
            <a:off x="9509760" y="1005840"/>
            <a:ext cx="2011680" cy="365760"/>
          </a:xfrm>
          <a:prstGeom prst="roundRect">
            <a:avLst>
              <a:gd name="adj" fmla="val 50000"/>
            </a:avLst>
          </a:prstGeom>
          <a:solidFill>
            <a:srgbClr val="E3F4E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1E7B34"/>
                </a:solidFill>
                <a:latin typeface="Arial"/>
              </a:rPr>
              <a:t>Hoàn thành</a:t>
            </a:r>
          </a:p>
        </p:txBody>
      </p:sp>
      <p:sp>
        <p:nvSpPr>
          <p:cNvPr id="5" name="Rounded Rectangle 4"/>
          <p:cNvSpPr/>
          <p:nvPr/>
        </p:nvSpPr>
        <p:spPr>
          <a:xfrm>
            <a:off x="685800" y="1737360"/>
            <a:ext cx="2331720" cy="128016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2148839" cy="457200"/>
          </a:xfrm>
          <a:prstGeom prst="rect">
            <a:avLst/>
          </a:prstGeom>
          <a:noFill/>
        </p:spPr>
        <p:txBody>
          <a:bodyPr wrap="square" lIns="0" tIns="27432" rIns="0" bIns="27432" anchor="ctr">
            <a:spAutoFit/>
          </a:bodyPr>
          <a:lstStyle/>
          <a:p>
            <a:pPr algn="ctr">
              <a:spcAft>
                <a:spcPts val="0"/>
              </a:spcAft>
            </a:pPr>
            <a:r>
              <a:rPr sz="1600" b="1" i="0">
                <a:solidFill>
                  <a:srgbClr val="0D2B6E"/>
                </a:solidFill>
                <a:latin typeface="Arial"/>
              </a:rPr>
              <a:t>Producer</a:t>
            </a:r>
          </a:p>
        </p:txBody>
      </p:sp>
      <p:sp>
        <p:nvSpPr>
          <p:cNvPr id="7" name="TextBox 6"/>
          <p:cNvSpPr txBox="1"/>
          <p:nvPr/>
        </p:nvSpPr>
        <p:spPr>
          <a:xfrm>
            <a:off x="777240" y="2331720"/>
            <a:ext cx="2148839" cy="548640"/>
          </a:xfrm>
          <a:prstGeom prst="rect">
            <a:avLst/>
          </a:prstGeom>
          <a:noFill/>
        </p:spPr>
        <p:txBody>
          <a:bodyPr wrap="square" lIns="0" tIns="27432" rIns="0" bIns="27432" anchor="t">
            <a:spAutoFit/>
          </a:bodyPr>
          <a:lstStyle/>
          <a:p>
            <a:pPr algn="ctr">
              <a:spcAft>
                <a:spcPts val="0"/>
              </a:spcAft>
            </a:pPr>
            <a:r>
              <a:rPr sz="1300" b="0" i="0">
                <a:solidFill>
                  <a:srgbClr val="555555"/>
                </a:solidFill>
                <a:latin typeface="Arial"/>
              </a:rPr>
              <a:t>producer.py, 1 log/giây</a:t>
            </a:r>
          </a:p>
        </p:txBody>
      </p:sp>
      <p:sp>
        <p:nvSpPr>
          <p:cNvPr id="8" name="Right Arrow 7"/>
          <p:cNvSpPr/>
          <p:nvPr/>
        </p:nvSpPr>
        <p:spPr>
          <a:xfrm>
            <a:off x="3072384" y="2240280"/>
            <a:ext cx="393192"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20440" y="1737360"/>
            <a:ext cx="2331720" cy="128016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80" y="1828800"/>
            <a:ext cx="2148839" cy="457200"/>
          </a:xfrm>
          <a:prstGeom prst="rect">
            <a:avLst/>
          </a:prstGeom>
          <a:noFill/>
        </p:spPr>
        <p:txBody>
          <a:bodyPr wrap="square" lIns="0" tIns="27432" rIns="0" bIns="27432" anchor="ctr">
            <a:spAutoFit/>
          </a:bodyPr>
          <a:lstStyle/>
          <a:p>
            <a:pPr algn="ctr">
              <a:spcAft>
                <a:spcPts val="0"/>
              </a:spcAft>
            </a:pPr>
            <a:r>
              <a:rPr sz="1600" b="1" i="0">
                <a:solidFill>
                  <a:srgbClr val="FFFFFF"/>
                </a:solidFill>
                <a:latin typeface="Arial"/>
              </a:rPr>
              <a:t>Kafka topic</a:t>
            </a:r>
          </a:p>
        </p:txBody>
      </p:sp>
      <p:sp>
        <p:nvSpPr>
          <p:cNvPr id="11" name="TextBox 10"/>
          <p:cNvSpPr txBox="1"/>
          <p:nvPr/>
        </p:nvSpPr>
        <p:spPr>
          <a:xfrm>
            <a:off x="3611880" y="2331720"/>
            <a:ext cx="2148839" cy="548640"/>
          </a:xfrm>
          <a:prstGeom prst="rect">
            <a:avLst/>
          </a:prstGeom>
          <a:noFill/>
        </p:spPr>
        <p:txBody>
          <a:bodyPr wrap="square" lIns="0" tIns="27432" rIns="0" bIns="27432" anchor="t">
            <a:spAutoFit/>
          </a:bodyPr>
          <a:lstStyle/>
          <a:p>
            <a:pPr algn="ctr">
              <a:spcAft>
                <a:spcPts val="0"/>
              </a:spcAft>
            </a:pPr>
            <a:r>
              <a:rPr sz="1300" b="0" i="0">
                <a:solidFill>
                  <a:srgbClr val="FFFFFF"/>
                </a:solidFill>
                <a:latin typeface="Arial"/>
              </a:rPr>
              <a:t>movie_logs (KRaft)</a:t>
            </a:r>
          </a:p>
        </p:txBody>
      </p:sp>
      <p:sp>
        <p:nvSpPr>
          <p:cNvPr id="12" name="Right Arrow 11"/>
          <p:cNvSpPr/>
          <p:nvPr/>
        </p:nvSpPr>
        <p:spPr>
          <a:xfrm>
            <a:off x="5907024" y="2240280"/>
            <a:ext cx="393192"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55080" y="1737360"/>
            <a:ext cx="2331720" cy="128016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828800"/>
            <a:ext cx="2148839" cy="457200"/>
          </a:xfrm>
          <a:prstGeom prst="rect">
            <a:avLst/>
          </a:prstGeom>
          <a:noFill/>
        </p:spPr>
        <p:txBody>
          <a:bodyPr wrap="square" lIns="0" tIns="27432" rIns="0" bIns="27432" anchor="ctr">
            <a:spAutoFit/>
          </a:bodyPr>
          <a:lstStyle/>
          <a:p>
            <a:pPr algn="ctr">
              <a:spcAft>
                <a:spcPts val="0"/>
              </a:spcAft>
            </a:pPr>
            <a:r>
              <a:rPr sz="1600" b="1" i="0">
                <a:solidFill>
                  <a:srgbClr val="0D2B6E"/>
                </a:solidFill>
                <a:latin typeface="Arial"/>
              </a:rPr>
              <a:t>Structured Streaming</a:t>
            </a:r>
          </a:p>
        </p:txBody>
      </p:sp>
      <p:sp>
        <p:nvSpPr>
          <p:cNvPr id="15" name="TextBox 14"/>
          <p:cNvSpPr txBox="1"/>
          <p:nvPr/>
        </p:nvSpPr>
        <p:spPr>
          <a:xfrm>
            <a:off x="6446520" y="2331720"/>
            <a:ext cx="2148839" cy="548640"/>
          </a:xfrm>
          <a:prstGeom prst="rect">
            <a:avLst/>
          </a:prstGeom>
          <a:noFill/>
        </p:spPr>
        <p:txBody>
          <a:bodyPr wrap="square" lIns="0" tIns="27432" rIns="0" bIns="27432" anchor="t">
            <a:spAutoFit/>
          </a:bodyPr>
          <a:lstStyle/>
          <a:p>
            <a:pPr algn="ctr">
              <a:spcAft>
                <a:spcPts val="0"/>
              </a:spcAft>
            </a:pPr>
            <a:r>
              <a:rPr sz="1300" b="0" i="0">
                <a:solidFill>
                  <a:srgbClr val="555555"/>
                </a:solidFill>
                <a:latin typeface="Arial"/>
              </a:rPr>
              <a:t>spark_streaming.py</a:t>
            </a:r>
          </a:p>
        </p:txBody>
      </p:sp>
      <p:sp>
        <p:nvSpPr>
          <p:cNvPr id="16" name="Right Arrow 15"/>
          <p:cNvSpPr/>
          <p:nvPr/>
        </p:nvSpPr>
        <p:spPr>
          <a:xfrm>
            <a:off x="8741664" y="2240280"/>
            <a:ext cx="393192" cy="27432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89720" y="1737360"/>
            <a:ext cx="2331720" cy="128016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1828800"/>
            <a:ext cx="2148839" cy="457200"/>
          </a:xfrm>
          <a:prstGeom prst="rect">
            <a:avLst/>
          </a:prstGeom>
          <a:noFill/>
        </p:spPr>
        <p:txBody>
          <a:bodyPr wrap="square" lIns="0" tIns="27432" rIns="0" bIns="27432" anchor="ctr">
            <a:spAutoFit/>
          </a:bodyPr>
          <a:lstStyle/>
          <a:p>
            <a:pPr algn="ctr">
              <a:spcAft>
                <a:spcPts val="0"/>
              </a:spcAft>
            </a:pPr>
            <a:r>
              <a:rPr sz="1600" b="1" i="0">
                <a:solidFill>
                  <a:srgbClr val="0D2B6E"/>
                </a:solidFill>
                <a:latin typeface="Arial"/>
              </a:rPr>
              <a:t>HDFS Silver</a:t>
            </a:r>
          </a:p>
        </p:txBody>
      </p:sp>
      <p:sp>
        <p:nvSpPr>
          <p:cNvPr id="19" name="TextBox 18"/>
          <p:cNvSpPr txBox="1"/>
          <p:nvPr/>
        </p:nvSpPr>
        <p:spPr>
          <a:xfrm>
            <a:off x="9281160" y="2331720"/>
            <a:ext cx="2148839" cy="548640"/>
          </a:xfrm>
          <a:prstGeom prst="rect">
            <a:avLst/>
          </a:prstGeom>
          <a:noFill/>
        </p:spPr>
        <p:txBody>
          <a:bodyPr wrap="square" lIns="0" tIns="27432" rIns="0" bIns="27432" anchor="t">
            <a:spAutoFit/>
          </a:bodyPr>
          <a:lstStyle/>
          <a:p>
            <a:pPr algn="ctr">
              <a:spcAft>
                <a:spcPts val="0"/>
              </a:spcAft>
            </a:pPr>
            <a:r>
              <a:rPr sz="1300" b="0" i="0">
                <a:solidFill>
                  <a:srgbClr val="555555"/>
                </a:solidFill>
                <a:latin typeface="Arial"/>
              </a:rPr>
              <a:t>streaming_logs/ (CSV)</a:t>
            </a:r>
          </a:p>
        </p:txBody>
      </p:sp>
      <p:sp>
        <p:nvSpPr>
          <p:cNvPr id="20" name="TextBox 19"/>
          <p:cNvSpPr txBox="1"/>
          <p:nvPr/>
        </p:nvSpPr>
        <p:spPr>
          <a:xfrm>
            <a:off x="685800" y="3337560"/>
            <a:ext cx="5029200" cy="3017520"/>
          </a:xfrm>
          <a:prstGeom prst="rect">
            <a:avLst/>
          </a:prstGeom>
          <a:noFill/>
        </p:spPr>
        <p:txBody>
          <a:bodyPr wrap="square" lIns="0" tIns="27432" rIns="0" bIns="27432" anchor="t">
            <a:spAutoFit/>
          </a:bodyPr>
          <a:lstStyle/>
          <a:p>
            <a:pPr marL="201168" indent="-201168" algn="l">
              <a:spcAft>
                <a:spcPts val="900"/>
              </a:spcAft>
              <a:buClr>
                <a:srgbClr val="4472C4"/>
              </a:buClr>
              <a:buFont typeface="Arial"/>
              <a:buChar char="•"/>
            </a:pPr>
            <a:r>
              <a:rPr sz="1400" b="0" i="0">
                <a:solidFill>
                  <a:srgbClr val="1A1A2E"/>
                </a:solidFill>
                <a:latin typeface="Arial"/>
              </a:rPr>
              <a:t>Kafka 3.6.2 chế độ KRaft, không cần ZooKeeper; topic movie_logs, 1 partition</a:t>
            </a:r>
          </a:p>
          <a:p>
            <a:pPr marL="201168" indent="-201168" algn="l">
              <a:spcAft>
                <a:spcPts val="900"/>
              </a:spcAft>
              <a:buClr>
                <a:srgbClr val="4472C4"/>
              </a:buClr>
              <a:buFont typeface="Arial"/>
              <a:buChar char="•"/>
            </a:pPr>
            <a:r>
              <a:rPr sz="1400" b="0" i="0">
                <a:solidFill>
                  <a:srgbClr val="1A1A2E"/>
                </a:solidFill>
                <a:latin typeface="Arial"/>
              </a:rPr>
              <a:t>Log JSON giả lập: timestamp, user_id, movie_id, action (click, view, add_to_watchlist, rate), rating</a:t>
            </a:r>
          </a:p>
          <a:p>
            <a:pPr marL="201168" indent="-201168" algn="l">
              <a:spcAft>
                <a:spcPts val="900"/>
              </a:spcAft>
              <a:buClr>
                <a:srgbClr val="4472C4"/>
              </a:buClr>
              <a:buFont typeface="Arial"/>
              <a:buChar char="•"/>
            </a:pPr>
            <a:r>
              <a:rPr sz="1400" b="0" i="0">
                <a:solidFill>
                  <a:srgbClr val="1A1A2E"/>
                </a:solidFill>
                <a:latin typeface="Arial"/>
              </a:rPr>
              <a:t>Ghi chế độ append, checkpoint tại /lakehouse/checkpoints/streaming_logs/</a:t>
            </a:r>
          </a:p>
          <a:p>
            <a:pPr marL="201168" indent="-201168" algn="l">
              <a:spcAft>
                <a:spcPts val="900"/>
              </a:spcAft>
              <a:buClr>
                <a:srgbClr val="4472C4"/>
              </a:buClr>
              <a:buFont typeface="Arial"/>
              <a:buChar char="•"/>
            </a:pPr>
            <a:r>
              <a:rPr sz="1400" b="0" i="0">
                <a:solidFill>
                  <a:srgbClr val="1A1A2E"/>
                </a:solidFill>
                <a:latin typeface="Arial"/>
              </a:rPr>
              <a:t>Đã kiểm chứng dữ liệu xuất hiện trên HDFS</a:t>
            </a:r>
          </a:p>
        </p:txBody>
      </p:sp>
      <p:pic>
        <p:nvPicPr>
          <p:cNvPr id="21" name="Picture 20" descr="Phát và nhận dữ liệu thời gian thực qua Kafka"/>
          <p:cNvPicPr>
            <a:picLocks noChangeAspect="1"/>
          </p:cNvPicPr>
          <p:nvPr/>
        </p:nvPicPr>
        <p:blipFill>
          <a:blip r:embed="rId4"/>
          <a:stretch>
            <a:fillRect/>
          </a:stretch>
        </p:blipFill>
        <p:spPr>
          <a:xfrm>
            <a:off x="6035040" y="3337560"/>
            <a:ext cx="5486400" cy="1012917"/>
          </a:xfrm>
          <a:prstGeom prst="rect">
            <a:avLst/>
          </a:prstGeom>
          <a:ln w="9525">
            <a:solidFill>
              <a:srgbClr val="C9D3E6"/>
            </a:solidFill>
          </a:ln>
        </p:spPr>
      </p:pic>
      <p:pic>
        <p:nvPicPr>
          <p:cNvPr id="22" name="Picture 21" descr="Log streaming lưu trên HDFS"/>
          <p:cNvPicPr>
            <a:picLocks noChangeAspect="1"/>
          </p:cNvPicPr>
          <p:nvPr/>
        </p:nvPicPr>
        <p:blipFill>
          <a:blip r:embed="rId5"/>
          <a:stretch>
            <a:fillRect/>
          </a:stretch>
        </p:blipFill>
        <p:spPr>
          <a:xfrm>
            <a:off x="6035040" y="4617720"/>
            <a:ext cx="4480560" cy="1687421"/>
          </a:xfrm>
          <a:prstGeom prst="rect">
            <a:avLst/>
          </a:prstGeom>
          <a:ln w="9525">
            <a:solidFill>
              <a:srgbClr val="C9D3E6"/>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GIAI ĐOẠN 9: APACHE AIRFLOW</a:t>
            </a:r>
          </a:p>
        </p:txBody>
      </p:sp>
      <p:sp>
        <p:nvSpPr>
          <p:cNvPr id="4" name="Rounded Rectangle 3"/>
          <p:cNvSpPr/>
          <p:nvPr/>
        </p:nvSpPr>
        <p:spPr>
          <a:xfrm>
            <a:off x="9509760" y="1005840"/>
            <a:ext cx="2011680" cy="365760"/>
          </a:xfrm>
          <a:prstGeom prst="roundRect">
            <a:avLst>
              <a:gd name="adj" fmla="val 50000"/>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8A5A00"/>
                </a:solidFill>
                <a:latin typeface="Arial"/>
              </a:rPr>
              <a:t>Hoàn thành cơ bản</a:t>
            </a:r>
          </a:p>
        </p:txBody>
      </p:sp>
      <p:pic>
        <p:nvPicPr>
          <p:cNvPr id="5" name="Picture 4" descr="Giao diện điều phối Apache Airflow"/>
          <p:cNvPicPr>
            <a:picLocks noChangeAspect="1"/>
          </p:cNvPicPr>
          <p:nvPr/>
        </p:nvPicPr>
        <p:blipFill>
          <a:blip r:embed="rId4"/>
          <a:stretch>
            <a:fillRect/>
          </a:stretch>
        </p:blipFill>
        <p:spPr>
          <a:xfrm>
            <a:off x="685800" y="1737360"/>
            <a:ext cx="6400800" cy="3418284"/>
          </a:xfrm>
          <a:prstGeom prst="rect">
            <a:avLst/>
          </a:prstGeom>
          <a:ln w="9525">
            <a:solidFill>
              <a:srgbClr val="C9D3E6"/>
            </a:solidFill>
          </a:ln>
        </p:spPr>
      </p:pic>
      <p:sp>
        <p:nvSpPr>
          <p:cNvPr id="6" name="TextBox 5"/>
          <p:cNvSpPr txBox="1"/>
          <p:nvPr/>
        </p:nvSpPr>
        <p:spPr>
          <a:xfrm>
            <a:off x="7406640" y="1737360"/>
            <a:ext cx="4114800" cy="3657600"/>
          </a:xfrm>
          <a:prstGeom prst="rect">
            <a:avLst/>
          </a:prstGeom>
          <a:noFill/>
        </p:spPr>
        <p:txBody>
          <a:bodyPr wrap="square" lIns="0" tIns="27432" rIns="0" bIns="27432" anchor="t">
            <a:spAutoFit/>
          </a:bodyPr>
          <a:lstStyle/>
          <a:p>
            <a:pPr marL="201168" indent="-201168" algn="l">
              <a:spcAft>
                <a:spcPts val="1000"/>
              </a:spcAft>
              <a:buClr>
                <a:srgbClr val="4472C4"/>
              </a:buClr>
              <a:buFont typeface="Arial"/>
              <a:buChar char="•"/>
            </a:pPr>
            <a:r>
              <a:rPr sz="1400" b="0" i="0">
                <a:solidFill>
                  <a:srgbClr val="1A1A2E"/>
                </a:solidFill>
                <a:latin typeface="Arial"/>
              </a:rPr>
              <a:t>Airflow 3.3.2 (nâng từ 2.9 vì Python 3.14), SQLite, chế độ standalone, cổng 8080</a:t>
            </a:r>
          </a:p>
          <a:p>
            <a:pPr marL="201168" indent="-201168" algn="l">
              <a:spcAft>
                <a:spcPts val="1000"/>
              </a:spcAft>
              <a:buClr>
                <a:srgbClr val="4472C4"/>
              </a:buClr>
              <a:buFont typeface="Arial"/>
              <a:buChar char="•"/>
            </a:pPr>
            <a:r>
              <a:rPr sz="1400" b="0" i="0">
                <a:solidFill>
                  <a:srgbClr val="1A1A2E"/>
                </a:solidFill>
                <a:latin typeface="Arial"/>
              </a:rPr>
              <a:t>DAG movie_data_pipeline chạy hàng ngày (timedelta(days=1))</a:t>
            </a:r>
          </a:p>
          <a:p>
            <a:pPr marL="201168" indent="-201168" algn="l">
              <a:spcAft>
                <a:spcPts val="1000"/>
              </a:spcAft>
              <a:buClr>
                <a:srgbClr val="4472C4"/>
              </a:buClr>
              <a:buFont typeface="Arial"/>
              <a:buChar char="•"/>
            </a:pPr>
            <a:r>
              <a:rPr sz="1400" b="0" i="0">
                <a:solidFill>
                  <a:srgbClr val="1A1A2E"/>
                </a:solidFill>
                <a:latin typeface="Arial"/>
              </a:rPr>
              <a:t>BashOperator kích hoạt tác vụ Spark batch</a:t>
            </a:r>
          </a:p>
          <a:p>
            <a:pPr marL="201168" indent="-201168" algn="l">
              <a:spcAft>
                <a:spcPts val="1000"/>
              </a:spcAft>
              <a:buClr>
                <a:srgbClr val="4472C4"/>
              </a:buClr>
              <a:buFont typeface="Arial"/>
              <a:buChar char="•"/>
            </a:pPr>
            <a:r>
              <a:rPr sz="1400" b="0" i="0">
                <a:solidFill>
                  <a:srgbClr val="1A1A2E"/>
                </a:solidFill>
                <a:latin typeface="Arial"/>
              </a:rPr>
              <a:t>Theo dõi Success/Failed và log trên web; viết CLI tùy chỉnh my_airflow</a:t>
            </a:r>
          </a:p>
        </p:txBody>
      </p:sp>
      <p:sp>
        <p:nvSpPr>
          <p:cNvPr id="7" name="Rounded Rectangle 6"/>
          <p:cNvSpPr/>
          <p:nvPr/>
        </p:nvSpPr>
        <p:spPr>
          <a:xfrm>
            <a:off x="685800" y="5486400"/>
            <a:ext cx="2103120" cy="50292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0D2B6E"/>
                </a:solidFill>
                <a:latin typeface="Arial"/>
              </a:rPr>
              <a:t>movie_pipeline_dag.py</a:t>
            </a:r>
          </a:p>
        </p:txBody>
      </p:sp>
      <p:sp>
        <p:nvSpPr>
          <p:cNvPr id="8" name="Right Arrow 7"/>
          <p:cNvSpPr/>
          <p:nvPr/>
        </p:nvSpPr>
        <p:spPr>
          <a:xfrm>
            <a:off x="2825496" y="5623560"/>
            <a:ext cx="274320"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154680" y="5486400"/>
            <a:ext cx="2103120" cy="50292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0D2B6E"/>
                </a:solidFill>
                <a:latin typeface="Arial"/>
              </a:rPr>
              <a:t>BashOperator</a:t>
            </a:r>
          </a:p>
        </p:txBody>
      </p:sp>
      <p:sp>
        <p:nvSpPr>
          <p:cNvPr id="10" name="Right Arrow 9"/>
          <p:cNvSpPr/>
          <p:nvPr/>
        </p:nvSpPr>
        <p:spPr>
          <a:xfrm>
            <a:off x="5294376" y="5623560"/>
            <a:ext cx="274320"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623560" y="5486400"/>
            <a:ext cx="2103120" cy="50292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0D2B6E"/>
                </a:solidFill>
                <a:latin typeface="Arial"/>
              </a:rPr>
              <a:t>Spark batch</a:t>
            </a:r>
          </a:p>
        </p:txBody>
      </p:sp>
      <p:sp>
        <p:nvSpPr>
          <p:cNvPr id="12" name="Right Arrow 11"/>
          <p:cNvSpPr/>
          <p:nvPr/>
        </p:nvSpPr>
        <p:spPr>
          <a:xfrm>
            <a:off x="7763256" y="5623560"/>
            <a:ext cx="274320" cy="228600"/>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92440" y="5486400"/>
            <a:ext cx="2103120" cy="502920"/>
          </a:xfrm>
          <a:prstGeom prst="roundRect">
            <a:avLst>
              <a:gd name="adj" fmla="val 50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FFFFFF"/>
                </a:solidFill>
                <a:latin typeface="Arial"/>
              </a:rPr>
              <a:t>Success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868680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GIAO DIỆN WEB FASTAPI</a:t>
            </a:r>
          </a:p>
        </p:txBody>
      </p:sp>
      <p:sp>
        <p:nvSpPr>
          <p:cNvPr id="4" name="Rounded Rectangle 3"/>
          <p:cNvSpPr/>
          <p:nvPr/>
        </p:nvSpPr>
        <p:spPr>
          <a:xfrm>
            <a:off x="9509760" y="1005840"/>
            <a:ext cx="2011680" cy="365760"/>
          </a:xfrm>
          <a:prstGeom prst="roundRect">
            <a:avLst>
              <a:gd name="adj" fmla="val 50000"/>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300" b="1" i="0">
                <a:solidFill>
                  <a:srgbClr val="8A5A00"/>
                </a:solidFill>
                <a:latin typeface="Arial"/>
              </a:rPr>
              <a:t>Bản kiểm thử</a:t>
            </a:r>
          </a:p>
        </p:txBody>
      </p:sp>
      <p:pic>
        <p:nvPicPr>
          <p:cNvPr id="5" name="Picture 4" descr="Web Dashboard FastAPI hiển thị dữ liệu các tầng"/>
          <p:cNvPicPr>
            <a:picLocks noChangeAspect="1"/>
          </p:cNvPicPr>
          <p:nvPr/>
        </p:nvPicPr>
        <p:blipFill>
          <a:blip r:embed="rId4"/>
          <a:stretch>
            <a:fillRect/>
          </a:stretch>
        </p:blipFill>
        <p:spPr>
          <a:xfrm>
            <a:off x="685800" y="1737360"/>
            <a:ext cx="6949440" cy="3284680"/>
          </a:xfrm>
          <a:prstGeom prst="rect">
            <a:avLst/>
          </a:prstGeom>
          <a:ln w="9525">
            <a:solidFill>
              <a:srgbClr val="C9D3E6"/>
            </a:solidFill>
          </a:ln>
        </p:spPr>
      </p:pic>
      <p:sp>
        <p:nvSpPr>
          <p:cNvPr id="6" name="TextBox 5"/>
          <p:cNvSpPr txBox="1"/>
          <p:nvPr/>
        </p:nvSpPr>
        <p:spPr>
          <a:xfrm>
            <a:off x="685800" y="5349240"/>
            <a:ext cx="6949440" cy="914400"/>
          </a:xfrm>
          <a:prstGeom prst="rect">
            <a:avLst/>
          </a:prstGeom>
          <a:noFill/>
        </p:spPr>
        <p:txBody>
          <a:bodyPr wrap="square" lIns="0" tIns="27432" rIns="0" bIns="27432" anchor="t">
            <a:spAutoFit/>
          </a:bodyPr>
          <a:lstStyle/>
          <a:p>
            <a:pPr algn="l">
              <a:spcAft>
                <a:spcPts val="0"/>
              </a:spcAft>
            </a:pPr>
            <a:r>
              <a:rPr sz="1400" b="0" i="0">
                <a:solidFill>
                  <a:srgbClr val="1A1A2E"/>
                </a:solidFill>
                <a:latin typeface="Arial"/>
              </a:rPr>
              <a:t>Chạy bằng uvicorn main:app --reload tại http://localhost:8000 trong môi trường ảo movie_env; kết nối HDFS qua WebHDFS REST API.</a:t>
            </a:r>
          </a:p>
        </p:txBody>
      </p:sp>
      <p:sp>
        <p:nvSpPr>
          <p:cNvPr id="7" name="Rounded Rectangle 6"/>
          <p:cNvSpPr/>
          <p:nvPr/>
        </p:nvSpPr>
        <p:spPr>
          <a:xfrm>
            <a:off x="8001000" y="1737360"/>
            <a:ext cx="3520440" cy="137160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183879" y="2103120"/>
            <a:ext cx="640080" cy="640080"/>
          </a:xfrm>
          <a:prstGeom prst="ellipse">
            <a:avLst/>
          </a:prstGeom>
          <a:solidFill>
            <a:srgbClr val="C9834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FFFFFF"/>
                </a:solidFill>
                <a:latin typeface="Arial"/>
              </a:rPr>
              <a:t>B</a:t>
            </a:r>
          </a:p>
        </p:txBody>
      </p:sp>
      <p:sp>
        <p:nvSpPr>
          <p:cNvPr id="9" name="TextBox 8"/>
          <p:cNvSpPr txBox="1"/>
          <p:nvPr/>
        </p:nvSpPr>
        <p:spPr>
          <a:xfrm>
            <a:off x="9006840" y="2011679"/>
            <a:ext cx="2423160"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Bronze</a:t>
            </a:r>
          </a:p>
        </p:txBody>
      </p:sp>
      <p:sp>
        <p:nvSpPr>
          <p:cNvPr id="10" name="TextBox 9"/>
          <p:cNvSpPr txBox="1"/>
          <p:nvPr/>
        </p:nvSpPr>
        <p:spPr>
          <a:xfrm>
            <a:off x="9006840" y="2468880"/>
            <a:ext cx="2423160" cy="45720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Dữ liệu thô CSV</a:t>
            </a:r>
          </a:p>
        </p:txBody>
      </p:sp>
      <p:sp>
        <p:nvSpPr>
          <p:cNvPr id="11" name="Rounded Rectangle 10"/>
          <p:cNvSpPr/>
          <p:nvPr/>
        </p:nvSpPr>
        <p:spPr>
          <a:xfrm>
            <a:off x="8001000" y="3291839"/>
            <a:ext cx="3520440" cy="137160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183879" y="3657599"/>
            <a:ext cx="640080" cy="640080"/>
          </a:xfrm>
          <a:prstGeom prst="ellipse">
            <a:avLst/>
          </a:prstGeom>
          <a:solidFill>
            <a:srgbClr val="B8C0C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1A1A2E"/>
                </a:solidFill>
                <a:latin typeface="Arial"/>
              </a:rPr>
              <a:t>S</a:t>
            </a:r>
          </a:p>
        </p:txBody>
      </p:sp>
      <p:sp>
        <p:nvSpPr>
          <p:cNvPr id="13" name="TextBox 12"/>
          <p:cNvSpPr txBox="1"/>
          <p:nvPr/>
        </p:nvSpPr>
        <p:spPr>
          <a:xfrm>
            <a:off x="9006840" y="3566159"/>
            <a:ext cx="2423160"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Silver</a:t>
            </a:r>
          </a:p>
        </p:txBody>
      </p:sp>
      <p:sp>
        <p:nvSpPr>
          <p:cNvPr id="14" name="TextBox 13"/>
          <p:cNvSpPr txBox="1"/>
          <p:nvPr/>
        </p:nvSpPr>
        <p:spPr>
          <a:xfrm>
            <a:off x="9006840" y="4023359"/>
            <a:ext cx="2423160" cy="45720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Parquet đã làm sạch</a:t>
            </a:r>
          </a:p>
        </p:txBody>
      </p:sp>
      <p:sp>
        <p:nvSpPr>
          <p:cNvPr id="15" name="Rounded Rectangle 14"/>
          <p:cNvSpPr/>
          <p:nvPr/>
        </p:nvSpPr>
        <p:spPr>
          <a:xfrm>
            <a:off x="8001000" y="4846320"/>
            <a:ext cx="3520440" cy="137160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183879" y="5212080"/>
            <a:ext cx="640080" cy="64008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1A1A2E"/>
                </a:solidFill>
                <a:latin typeface="Arial"/>
              </a:rPr>
              <a:t>G</a:t>
            </a:r>
          </a:p>
        </p:txBody>
      </p:sp>
      <p:sp>
        <p:nvSpPr>
          <p:cNvPr id="17" name="TextBox 16"/>
          <p:cNvSpPr txBox="1"/>
          <p:nvPr/>
        </p:nvSpPr>
        <p:spPr>
          <a:xfrm>
            <a:off x="9006840" y="5120640"/>
            <a:ext cx="2423160"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Gold</a:t>
            </a:r>
          </a:p>
        </p:txBody>
      </p:sp>
      <p:sp>
        <p:nvSpPr>
          <p:cNvPr id="18" name="TextBox 17"/>
          <p:cNvSpPr txBox="1"/>
          <p:nvPr/>
        </p:nvSpPr>
        <p:spPr>
          <a:xfrm>
            <a:off x="9006840" y="5577840"/>
            <a:ext cx="2423160" cy="457200"/>
          </a:xfrm>
          <a:prstGeom prst="rect">
            <a:avLst/>
          </a:prstGeom>
          <a:noFill/>
        </p:spPr>
        <p:txBody>
          <a:bodyPr wrap="square" lIns="0" tIns="27432" rIns="0" bIns="27432" anchor="t">
            <a:spAutoFit/>
          </a:bodyPr>
          <a:lstStyle/>
          <a:p>
            <a:pPr algn="l">
              <a:spcAft>
                <a:spcPts val="0"/>
              </a:spcAft>
            </a:pPr>
            <a:r>
              <a:rPr sz="1400" b="0" i="0">
                <a:solidFill>
                  <a:srgbClr val="555555"/>
                </a:solidFill>
                <a:latin typeface="Arial"/>
              </a:rPr>
              <a:t>Gợi ý phim Top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TỔNG HỢP TIẾN ĐỘ</a:t>
            </a:r>
          </a:p>
        </p:txBody>
      </p:sp>
      <p:graphicFrame>
        <p:nvGraphicFramePr>
          <p:cNvPr id="4" name="Table 3"/>
          <p:cNvGraphicFramePr>
            <a:graphicFrameLocks noGrp="1"/>
          </p:cNvGraphicFramePr>
          <p:nvPr/>
        </p:nvGraphicFramePr>
        <p:xfrm>
          <a:off x="685800" y="1691640"/>
          <a:ext cx="10835640" cy="452628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411480">
                <a:tc>
                  <a:txBody>
                    <a:bodyPr/>
                    <a:lstStyle/>
                    <a:p>
                      <a:pPr algn="ctr"/>
                      <a:r>
                        <a:rPr sz="1400" b="1" i="0">
                          <a:solidFill>
                            <a:srgbClr val="FFFFFF"/>
                          </a:solidFill>
                          <a:latin typeface="Arial"/>
                        </a:rPr>
                        <a:t>STT</a:t>
                      </a:r>
                    </a:p>
                  </a:txBody>
                  <a:tcPr marT="36576" marB="36576" anchor="ctr">
                    <a:solidFill>
                      <a:srgbClr val="1A478A"/>
                    </a:solidFill>
                  </a:tcPr>
                </a:tc>
                <a:tc>
                  <a:txBody>
                    <a:bodyPr/>
                    <a:lstStyle/>
                    <a:p>
                      <a:pPr algn="l"/>
                      <a:r>
                        <a:rPr sz="1400" b="1" i="0">
                          <a:solidFill>
                            <a:srgbClr val="FFFFFF"/>
                          </a:solidFill>
                          <a:latin typeface="Arial"/>
                        </a:rPr>
                        <a:t>Hạng mục</a:t>
                      </a:r>
                    </a:p>
                  </a:txBody>
                  <a:tcPr marT="36576" marB="36576" anchor="ctr">
                    <a:solidFill>
                      <a:srgbClr val="1A478A"/>
                    </a:solidFill>
                  </a:tcPr>
                </a:tc>
                <a:tc>
                  <a:txBody>
                    <a:bodyPr/>
                    <a:lstStyle/>
                    <a:p>
                      <a:pPr algn="l"/>
                      <a:r>
                        <a:rPr sz="1400" b="1" i="0">
                          <a:solidFill>
                            <a:srgbClr val="FFFFFF"/>
                          </a:solidFill>
                          <a:latin typeface="Arial"/>
                        </a:rPr>
                        <a:t>Tệp thực thi chính</a:t>
                      </a:r>
                    </a:p>
                  </a:txBody>
                  <a:tcPr marT="36576" marB="36576" anchor="ctr">
                    <a:solidFill>
                      <a:srgbClr val="1A478A"/>
                    </a:solidFill>
                  </a:tcPr>
                </a:tc>
                <a:tc>
                  <a:txBody>
                    <a:bodyPr/>
                    <a:lstStyle/>
                    <a:p>
                      <a:pPr algn="ctr"/>
                      <a:r>
                        <a:rPr sz="1400" b="1" i="0">
                          <a:solidFill>
                            <a:srgbClr val="FFFFFF"/>
                          </a:solidFill>
                          <a:latin typeface="Arial"/>
                        </a:rPr>
                        <a:t>Trạng thái</a:t>
                      </a:r>
                    </a:p>
                  </a:txBody>
                  <a:tcPr marT="36576" marB="36576" anchor="ctr">
                    <a:solidFill>
                      <a:srgbClr val="1A478A"/>
                    </a:solidFill>
                  </a:tcPr>
                </a:tc>
                <a:extLst>
                  <a:ext uri="{0D108BD9-81ED-4DB2-BD59-A6C34878D82A}">
                    <a16:rowId xmlns:a16="http://schemas.microsoft.com/office/drawing/2014/main" val="10000"/>
                  </a:ext>
                </a:extLst>
              </a:tr>
              <a:tr h="411480">
                <a:tc>
                  <a:txBody>
                    <a:bodyPr/>
                    <a:lstStyle/>
                    <a:p>
                      <a:pPr algn="ctr"/>
                      <a:r>
                        <a:rPr sz="1400" b="0" i="0">
                          <a:solidFill>
                            <a:srgbClr val="1A1A2E"/>
                          </a:solidFill>
                          <a:latin typeface="Arial"/>
                        </a:rPr>
                        <a:t>1</a:t>
                      </a:r>
                    </a:p>
                  </a:txBody>
                  <a:tcPr marT="36576" marB="36576" anchor="ctr">
                    <a:solidFill>
                      <a:srgbClr val="FFFFFF"/>
                    </a:solidFill>
                  </a:tcPr>
                </a:tc>
                <a:tc>
                  <a:txBody>
                    <a:bodyPr/>
                    <a:lstStyle/>
                    <a:p>
                      <a:pPr algn="l"/>
                      <a:r>
                        <a:rPr sz="1400" b="0" i="0">
                          <a:solidFill>
                            <a:srgbClr val="1A1A2E"/>
                          </a:solidFill>
                          <a:latin typeface="Arial"/>
                        </a:rPr>
                        <a:t>Cài đặt Hadoop, cụm HDFS 2 DataNode</a:t>
                      </a:r>
                    </a:p>
                  </a:txBody>
                  <a:tcPr marT="36576" marB="36576" anchor="ctr">
                    <a:solidFill>
                      <a:srgbClr val="FFFFFF"/>
                    </a:solidFill>
                  </a:tcPr>
                </a:tc>
                <a:tc>
                  <a:txBody>
                    <a:bodyPr/>
                    <a:lstStyle/>
                    <a:p>
                      <a:pPr algn="l"/>
                      <a:r>
                        <a:rPr sz="1400" b="0" i="0">
                          <a:solidFill>
                            <a:srgbClr val="1A1A2E"/>
                          </a:solidFill>
                          <a:latin typeface="Arial"/>
                        </a:rPr>
                        <a:t>start-dfs.sh, hadoop2</a:t>
                      </a:r>
                    </a:p>
                  </a:txBody>
                  <a:tcPr marT="36576" marB="36576" anchor="ctr">
                    <a:solidFill>
                      <a:srgbClr val="FFFFFF"/>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1"/>
                  </a:ext>
                </a:extLst>
              </a:tr>
              <a:tr h="411480">
                <a:tc>
                  <a:txBody>
                    <a:bodyPr/>
                    <a:lstStyle/>
                    <a:p>
                      <a:pPr algn="ctr"/>
                      <a:r>
                        <a:rPr sz="1400" b="0" i="0">
                          <a:solidFill>
                            <a:srgbClr val="1A1A2E"/>
                          </a:solidFill>
                          <a:latin typeface="Arial"/>
                        </a:rPr>
                        <a:t>2</a:t>
                      </a:r>
                    </a:p>
                  </a:txBody>
                  <a:tcPr marT="36576" marB="36576" anchor="ctr">
                    <a:solidFill>
                      <a:srgbClr val="F4F7FC"/>
                    </a:solidFill>
                  </a:tcPr>
                </a:tc>
                <a:tc>
                  <a:txBody>
                    <a:bodyPr/>
                    <a:lstStyle/>
                    <a:p>
                      <a:pPr algn="l"/>
                      <a:r>
                        <a:rPr sz="1400" b="0" i="0">
                          <a:solidFill>
                            <a:srgbClr val="1A1A2E"/>
                          </a:solidFill>
                          <a:latin typeface="Arial"/>
                        </a:rPr>
                        <a:t>Đưa dữ liệu thô lên tầng Bronze</a:t>
                      </a:r>
                    </a:p>
                  </a:txBody>
                  <a:tcPr marT="36576" marB="36576" anchor="ctr">
                    <a:solidFill>
                      <a:srgbClr val="F4F7FC"/>
                    </a:solidFill>
                  </a:tcPr>
                </a:tc>
                <a:tc>
                  <a:txBody>
                    <a:bodyPr/>
                    <a:lstStyle/>
                    <a:p>
                      <a:pPr algn="l"/>
                      <a:r>
                        <a:rPr sz="1400" b="0" i="0">
                          <a:solidFill>
                            <a:srgbClr val="1A1A2E"/>
                          </a:solidFill>
                          <a:latin typeface="Arial"/>
                        </a:rPr>
                        <a:t>hdfs dfs -put</a:t>
                      </a:r>
                    </a:p>
                  </a:txBody>
                  <a:tcPr marT="36576" marB="36576" anchor="ctr">
                    <a:solidFill>
                      <a:srgbClr val="F4F7FC"/>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2"/>
                  </a:ext>
                </a:extLst>
              </a:tr>
              <a:tr h="411480">
                <a:tc>
                  <a:txBody>
                    <a:bodyPr/>
                    <a:lstStyle/>
                    <a:p>
                      <a:pPr algn="ctr"/>
                      <a:r>
                        <a:rPr sz="1400" b="0" i="0">
                          <a:solidFill>
                            <a:srgbClr val="1A1A2E"/>
                          </a:solidFill>
                          <a:latin typeface="Arial"/>
                        </a:rPr>
                        <a:t>3</a:t>
                      </a:r>
                    </a:p>
                  </a:txBody>
                  <a:tcPr marT="36576" marB="36576" anchor="ctr">
                    <a:solidFill>
                      <a:srgbClr val="FFFFFF"/>
                    </a:solidFill>
                  </a:tcPr>
                </a:tc>
                <a:tc>
                  <a:txBody>
                    <a:bodyPr/>
                    <a:lstStyle/>
                    <a:p>
                      <a:pPr algn="l"/>
                      <a:r>
                        <a:rPr sz="1400" b="0" i="0">
                          <a:solidFill>
                            <a:srgbClr val="1A1A2E"/>
                          </a:solidFill>
                          <a:latin typeface="Arial"/>
                        </a:rPr>
                        <a:t>Đọc và join dữ liệu bằng PySpark</a:t>
                      </a:r>
                    </a:p>
                  </a:txBody>
                  <a:tcPr marT="36576" marB="36576" anchor="ctr">
                    <a:solidFill>
                      <a:srgbClr val="FFFFFF"/>
                    </a:solidFill>
                  </a:tcPr>
                </a:tc>
                <a:tc>
                  <a:txBody>
                    <a:bodyPr/>
                    <a:lstStyle/>
                    <a:p>
                      <a:pPr algn="l"/>
                      <a:r>
                        <a:rPr sz="1400" b="0" i="0">
                          <a:solidFill>
                            <a:srgbClr val="1A1A2E"/>
                          </a:solidFill>
                          <a:latin typeface="Arial"/>
                        </a:rPr>
                        <a:t>process_movies.py</a:t>
                      </a:r>
                    </a:p>
                  </a:txBody>
                  <a:tcPr marT="36576" marB="36576" anchor="ctr">
                    <a:solidFill>
                      <a:srgbClr val="FFFFFF"/>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3"/>
                  </a:ext>
                </a:extLst>
              </a:tr>
              <a:tr h="411480">
                <a:tc>
                  <a:txBody>
                    <a:bodyPr/>
                    <a:lstStyle/>
                    <a:p>
                      <a:pPr algn="ctr"/>
                      <a:r>
                        <a:rPr sz="1400" b="0" i="0">
                          <a:solidFill>
                            <a:srgbClr val="1A1A2E"/>
                          </a:solidFill>
                          <a:latin typeface="Arial"/>
                        </a:rPr>
                        <a:t>4</a:t>
                      </a:r>
                    </a:p>
                  </a:txBody>
                  <a:tcPr marT="36576" marB="36576" anchor="ctr">
                    <a:solidFill>
                      <a:srgbClr val="F4F7FC"/>
                    </a:solidFill>
                  </a:tcPr>
                </a:tc>
                <a:tc>
                  <a:txBody>
                    <a:bodyPr/>
                    <a:lstStyle/>
                    <a:p>
                      <a:pPr algn="l"/>
                      <a:r>
                        <a:rPr sz="1400" b="0" i="0">
                          <a:solidFill>
                            <a:srgbClr val="1A1A2E"/>
                          </a:solidFill>
                          <a:latin typeface="Arial"/>
                        </a:rPr>
                        <a:t>Làm sạch, ghi Parquet tầng Silver</a:t>
                      </a:r>
                    </a:p>
                  </a:txBody>
                  <a:tcPr marT="36576" marB="36576" anchor="ctr">
                    <a:solidFill>
                      <a:srgbClr val="F4F7FC"/>
                    </a:solidFill>
                  </a:tcPr>
                </a:tc>
                <a:tc>
                  <a:txBody>
                    <a:bodyPr/>
                    <a:lstStyle/>
                    <a:p>
                      <a:pPr algn="l"/>
                      <a:r>
                        <a:rPr sz="1400" b="0" i="0">
                          <a:solidFill>
                            <a:srgbClr val="1A1A2E"/>
                          </a:solidFill>
                          <a:latin typeface="Arial"/>
                        </a:rPr>
                        <a:t>clean_data.py</a:t>
                      </a:r>
                    </a:p>
                  </a:txBody>
                  <a:tcPr marT="36576" marB="36576" anchor="ctr">
                    <a:solidFill>
                      <a:srgbClr val="F4F7FC"/>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4"/>
                  </a:ext>
                </a:extLst>
              </a:tr>
              <a:tr h="411480">
                <a:tc>
                  <a:txBody>
                    <a:bodyPr/>
                    <a:lstStyle/>
                    <a:p>
                      <a:pPr algn="ctr"/>
                      <a:r>
                        <a:rPr sz="1400" b="0" i="0">
                          <a:solidFill>
                            <a:srgbClr val="1A1A2E"/>
                          </a:solidFill>
                          <a:latin typeface="Arial"/>
                        </a:rPr>
                        <a:t>5</a:t>
                      </a:r>
                    </a:p>
                  </a:txBody>
                  <a:tcPr marT="36576" marB="36576" anchor="ctr">
                    <a:solidFill>
                      <a:srgbClr val="FFFFFF"/>
                    </a:solidFill>
                  </a:tcPr>
                </a:tc>
                <a:tc>
                  <a:txBody>
                    <a:bodyPr/>
                    <a:lstStyle/>
                    <a:p>
                      <a:pPr algn="l"/>
                      <a:r>
                        <a:rPr sz="1400" b="0" i="0">
                          <a:solidFill>
                            <a:srgbClr val="1A1A2E"/>
                          </a:solidFill>
                          <a:latin typeface="Arial"/>
                        </a:rPr>
                        <a:t>Truy vấn phân tích Spark SQL</a:t>
                      </a:r>
                    </a:p>
                  </a:txBody>
                  <a:tcPr marT="36576" marB="36576" anchor="ctr">
                    <a:solidFill>
                      <a:srgbClr val="FFFFFF"/>
                    </a:solidFill>
                  </a:tcPr>
                </a:tc>
                <a:tc>
                  <a:txBody>
                    <a:bodyPr/>
                    <a:lstStyle/>
                    <a:p>
                      <a:pPr algn="l"/>
                      <a:r>
                        <a:rPr sz="1400" b="0" i="0">
                          <a:solidFill>
                            <a:srgbClr val="1A1A2E"/>
                          </a:solidFill>
                          <a:latin typeface="Arial"/>
                        </a:rPr>
                        <a:t>query_movies.py</a:t>
                      </a:r>
                    </a:p>
                  </a:txBody>
                  <a:tcPr marT="36576" marB="36576" anchor="ctr">
                    <a:solidFill>
                      <a:srgbClr val="FFFFFF"/>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5"/>
                  </a:ext>
                </a:extLst>
              </a:tr>
              <a:tr h="411480">
                <a:tc>
                  <a:txBody>
                    <a:bodyPr/>
                    <a:lstStyle/>
                    <a:p>
                      <a:pPr algn="ctr"/>
                      <a:r>
                        <a:rPr sz="1400" b="0" i="0">
                          <a:solidFill>
                            <a:srgbClr val="1A1A2E"/>
                          </a:solidFill>
                          <a:latin typeface="Arial"/>
                        </a:rPr>
                        <a:t>6</a:t>
                      </a:r>
                    </a:p>
                  </a:txBody>
                  <a:tcPr marT="36576" marB="36576" anchor="ctr">
                    <a:solidFill>
                      <a:srgbClr val="F4F7FC"/>
                    </a:solidFill>
                  </a:tcPr>
                </a:tc>
                <a:tc>
                  <a:txBody>
                    <a:bodyPr/>
                    <a:lstStyle/>
                    <a:p>
                      <a:pPr algn="l"/>
                      <a:r>
                        <a:rPr sz="1400" b="0" i="0">
                          <a:solidFill>
                            <a:srgbClr val="1A1A2E"/>
                          </a:solidFill>
                          <a:latin typeface="Arial"/>
                        </a:rPr>
                        <a:t>Huấn luyện mô hình ALS</a:t>
                      </a:r>
                    </a:p>
                  </a:txBody>
                  <a:tcPr marT="36576" marB="36576" anchor="ctr">
                    <a:solidFill>
                      <a:srgbClr val="F4F7FC"/>
                    </a:solidFill>
                  </a:tcPr>
                </a:tc>
                <a:tc>
                  <a:txBody>
                    <a:bodyPr/>
                    <a:lstStyle/>
                    <a:p>
                      <a:pPr algn="l"/>
                      <a:r>
                        <a:rPr sz="1400" b="0" i="0">
                          <a:solidFill>
                            <a:srgbClr val="1A1A2E"/>
                          </a:solidFill>
                          <a:latin typeface="Arial"/>
                        </a:rPr>
                        <a:t>train_als_recommendation.py</a:t>
                      </a:r>
                    </a:p>
                  </a:txBody>
                  <a:tcPr marT="36576" marB="36576" anchor="ctr">
                    <a:solidFill>
                      <a:srgbClr val="F4F7FC"/>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6"/>
                  </a:ext>
                </a:extLst>
              </a:tr>
              <a:tr h="411480">
                <a:tc>
                  <a:txBody>
                    <a:bodyPr/>
                    <a:lstStyle/>
                    <a:p>
                      <a:pPr algn="ctr"/>
                      <a:r>
                        <a:rPr sz="1400" b="0" i="0">
                          <a:solidFill>
                            <a:srgbClr val="1A1A2E"/>
                          </a:solidFill>
                          <a:latin typeface="Arial"/>
                        </a:rPr>
                        <a:t>7</a:t>
                      </a:r>
                    </a:p>
                  </a:txBody>
                  <a:tcPr marT="36576" marB="36576" anchor="ctr">
                    <a:solidFill>
                      <a:srgbClr val="FFFFFF"/>
                    </a:solidFill>
                  </a:tcPr>
                </a:tc>
                <a:tc>
                  <a:txBody>
                    <a:bodyPr/>
                    <a:lstStyle/>
                    <a:p>
                      <a:pPr algn="l"/>
                      <a:r>
                        <a:rPr sz="1400" b="0" i="0">
                          <a:solidFill>
                            <a:srgbClr val="1A1A2E"/>
                          </a:solidFill>
                          <a:latin typeface="Arial"/>
                        </a:rPr>
                        <a:t>Sinh gợi ý, lưu tầng Gold</a:t>
                      </a:r>
                    </a:p>
                  </a:txBody>
                  <a:tcPr marT="36576" marB="36576" anchor="ctr">
                    <a:solidFill>
                      <a:srgbClr val="FFFFFF"/>
                    </a:solidFill>
                  </a:tcPr>
                </a:tc>
                <a:tc>
                  <a:txBody>
                    <a:bodyPr/>
                    <a:lstStyle/>
                    <a:p>
                      <a:pPr algn="l"/>
                      <a:r>
                        <a:rPr sz="1400" b="0" i="0">
                          <a:solidFill>
                            <a:srgbClr val="1A1A2E"/>
                          </a:solidFill>
                          <a:latin typeface="Arial"/>
                        </a:rPr>
                        <a:t>train_als_recommendation.py</a:t>
                      </a:r>
                    </a:p>
                  </a:txBody>
                  <a:tcPr marT="36576" marB="36576" anchor="ctr">
                    <a:solidFill>
                      <a:srgbClr val="FFFFFF"/>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7"/>
                  </a:ext>
                </a:extLst>
              </a:tr>
              <a:tr h="411480">
                <a:tc>
                  <a:txBody>
                    <a:bodyPr/>
                    <a:lstStyle/>
                    <a:p>
                      <a:pPr algn="ctr"/>
                      <a:r>
                        <a:rPr sz="1400" b="0" i="0">
                          <a:solidFill>
                            <a:srgbClr val="1A1A2E"/>
                          </a:solidFill>
                          <a:latin typeface="Arial"/>
                        </a:rPr>
                        <a:t>8</a:t>
                      </a:r>
                    </a:p>
                  </a:txBody>
                  <a:tcPr marT="36576" marB="36576" anchor="ctr">
                    <a:solidFill>
                      <a:srgbClr val="F4F7FC"/>
                    </a:solidFill>
                  </a:tcPr>
                </a:tc>
                <a:tc>
                  <a:txBody>
                    <a:bodyPr/>
                    <a:lstStyle/>
                    <a:p>
                      <a:pPr algn="l"/>
                      <a:r>
                        <a:rPr sz="1400" b="0" i="0">
                          <a:solidFill>
                            <a:srgbClr val="1A1A2E"/>
                          </a:solidFill>
                          <a:latin typeface="Arial"/>
                        </a:rPr>
                        <a:t>Kafka và Spark Streaming</a:t>
                      </a:r>
                    </a:p>
                  </a:txBody>
                  <a:tcPr marT="36576" marB="36576" anchor="ctr">
                    <a:solidFill>
                      <a:srgbClr val="F4F7FC"/>
                    </a:solidFill>
                  </a:tcPr>
                </a:tc>
                <a:tc>
                  <a:txBody>
                    <a:bodyPr/>
                    <a:lstStyle/>
                    <a:p>
                      <a:pPr algn="l"/>
                      <a:r>
                        <a:rPr sz="1400" b="0" i="0">
                          <a:solidFill>
                            <a:srgbClr val="1A1A2E"/>
                          </a:solidFill>
                          <a:latin typeface="Arial"/>
                        </a:rPr>
                        <a:t>producer.py, spark_streaming.py</a:t>
                      </a:r>
                    </a:p>
                  </a:txBody>
                  <a:tcPr marT="36576" marB="36576" anchor="ctr">
                    <a:solidFill>
                      <a:srgbClr val="F4F7FC"/>
                    </a:solidFill>
                  </a:tcPr>
                </a:tc>
                <a:tc>
                  <a:txBody>
                    <a:bodyPr/>
                    <a:lstStyle/>
                    <a:p>
                      <a:pPr algn="ctr"/>
                      <a:r>
                        <a:rPr sz="1400" b="1" i="0">
                          <a:solidFill>
                            <a:srgbClr val="1E7B34"/>
                          </a:solidFill>
                          <a:latin typeface="Arial"/>
                        </a:rPr>
                        <a:t>Hoàn thành</a:t>
                      </a:r>
                    </a:p>
                  </a:txBody>
                  <a:tcPr marT="36576" marB="36576" anchor="ctr">
                    <a:solidFill>
                      <a:srgbClr val="E3F4E8"/>
                    </a:solidFill>
                  </a:tcPr>
                </a:tc>
                <a:extLst>
                  <a:ext uri="{0D108BD9-81ED-4DB2-BD59-A6C34878D82A}">
                    <a16:rowId xmlns:a16="http://schemas.microsoft.com/office/drawing/2014/main" val="10008"/>
                  </a:ext>
                </a:extLst>
              </a:tr>
              <a:tr h="411480">
                <a:tc>
                  <a:txBody>
                    <a:bodyPr/>
                    <a:lstStyle/>
                    <a:p>
                      <a:pPr algn="ctr"/>
                      <a:r>
                        <a:rPr sz="1400" b="0" i="0">
                          <a:solidFill>
                            <a:srgbClr val="1A1A2E"/>
                          </a:solidFill>
                          <a:latin typeface="Arial"/>
                        </a:rPr>
                        <a:t>9</a:t>
                      </a:r>
                    </a:p>
                  </a:txBody>
                  <a:tcPr marT="36576" marB="36576" anchor="ctr">
                    <a:solidFill>
                      <a:srgbClr val="FFFFFF"/>
                    </a:solidFill>
                  </a:tcPr>
                </a:tc>
                <a:tc>
                  <a:txBody>
                    <a:bodyPr/>
                    <a:lstStyle/>
                    <a:p>
                      <a:pPr algn="l"/>
                      <a:r>
                        <a:rPr sz="1400" b="0" i="0">
                          <a:solidFill>
                            <a:srgbClr val="1A1A2E"/>
                          </a:solidFill>
                          <a:latin typeface="Arial"/>
                        </a:rPr>
                        <a:t>Điều phối bằng Airflow</a:t>
                      </a:r>
                    </a:p>
                  </a:txBody>
                  <a:tcPr marT="36576" marB="36576" anchor="ctr">
                    <a:solidFill>
                      <a:srgbClr val="FFFFFF"/>
                    </a:solidFill>
                  </a:tcPr>
                </a:tc>
                <a:tc>
                  <a:txBody>
                    <a:bodyPr/>
                    <a:lstStyle/>
                    <a:p>
                      <a:pPr algn="l"/>
                      <a:r>
                        <a:rPr sz="1400" b="0" i="0">
                          <a:solidFill>
                            <a:srgbClr val="1A1A2E"/>
                          </a:solidFill>
                          <a:latin typeface="Arial"/>
                        </a:rPr>
                        <a:t>movie_pipeline_dag.py</a:t>
                      </a:r>
                    </a:p>
                  </a:txBody>
                  <a:tcPr marT="36576" marB="36576" anchor="ctr">
                    <a:solidFill>
                      <a:srgbClr val="FFFFFF"/>
                    </a:solidFill>
                  </a:tcPr>
                </a:tc>
                <a:tc>
                  <a:txBody>
                    <a:bodyPr/>
                    <a:lstStyle/>
                    <a:p>
                      <a:pPr algn="ctr"/>
                      <a:r>
                        <a:rPr sz="1400" b="1" i="0">
                          <a:solidFill>
                            <a:srgbClr val="8A5A00"/>
                          </a:solidFill>
                          <a:latin typeface="Arial"/>
                        </a:rPr>
                        <a:t>Hoàn thành cơ bản</a:t>
                      </a:r>
                    </a:p>
                  </a:txBody>
                  <a:tcPr marT="36576" marB="36576" anchor="ctr">
                    <a:solidFill>
                      <a:srgbClr val="FFF1CC"/>
                    </a:solidFill>
                  </a:tcPr>
                </a:tc>
                <a:extLst>
                  <a:ext uri="{0D108BD9-81ED-4DB2-BD59-A6C34878D82A}">
                    <a16:rowId xmlns:a16="http://schemas.microsoft.com/office/drawing/2014/main" val="10009"/>
                  </a:ext>
                </a:extLst>
              </a:tr>
              <a:tr h="411480">
                <a:tc>
                  <a:txBody>
                    <a:bodyPr/>
                    <a:lstStyle/>
                    <a:p>
                      <a:pPr algn="ctr"/>
                      <a:r>
                        <a:rPr sz="1400" b="0" i="0">
                          <a:solidFill>
                            <a:srgbClr val="1A1A2E"/>
                          </a:solidFill>
                          <a:latin typeface="Arial"/>
                        </a:rPr>
                        <a:t>10</a:t>
                      </a:r>
                    </a:p>
                  </a:txBody>
                  <a:tcPr marT="36576" marB="36576" anchor="ctr">
                    <a:solidFill>
                      <a:srgbClr val="F4F7FC"/>
                    </a:solidFill>
                  </a:tcPr>
                </a:tc>
                <a:tc>
                  <a:txBody>
                    <a:bodyPr/>
                    <a:lstStyle/>
                    <a:p>
                      <a:pPr algn="l"/>
                      <a:r>
                        <a:rPr sz="1400" b="0" i="0">
                          <a:solidFill>
                            <a:srgbClr val="1A1A2E"/>
                          </a:solidFill>
                          <a:latin typeface="Arial"/>
                        </a:rPr>
                        <a:t>Giao diện web FastAPI</a:t>
                      </a:r>
                    </a:p>
                  </a:txBody>
                  <a:tcPr marT="36576" marB="36576" anchor="ctr">
                    <a:solidFill>
                      <a:srgbClr val="F4F7FC"/>
                    </a:solidFill>
                  </a:tcPr>
                </a:tc>
                <a:tc>
                  <a:txBody>
                    <a:bodyPr/>
                    <a:lstStyle/>
                    <a:p>
                      <a:pPr algn="l"/>
                      <a:r>
                        <a:rPr sz="1400" b="0" i="0">
                          <a:solidFill>
                            <a:srgbClr val="1A1A2E"/>
                          </a:solidFill>
                          <a:latin typeface="Arial"/>
                        </a:rPr>
                        <a:t>main.py</a:t>
                      </a:r>
                    </a:p>
                  </a:txBody>
                  <a:tcPr marT="36576" marB="36576" anchor="ctr">
                    <a:solidFill>
                      <a:srgbClr val="F4F7FC"/>
                    </a:solidFill>
                  </a:tcPr>
                </a:tc>
                <a:tc>
                  <a:txBody>
                    <a:bodyPr/>
                    <a:lstStyle/>
                    <a:p>
                      <a:pPr algn="ctr"/>
                      <a:r>
                        <a:rPr sz="1400" b="1" i="0">
                          <a:solidFill>
                            <a:srgbClr val="8A5A00"/>
                          </a:solidFill>
                          <a:latin typeface="Arial"/>
                        </a:rPr>
                        <a:t>Bản kiểm thử</a:t>
                      </a:r>
                    </a:p>
                  </a:txBody>
                  <a:tcPr marT="36576" marB="36576" anchor="ctr">
                    <a:solidFill>
                      <a:srgbClr val="FFF1C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KẾT QUẢ ĐẠT ĐƯỢC</a:t>
            </a:r>
          </a:p>
        </p:txBody>
      </p:sp>
      <p:graphicFrame>
        <p:nvGraphicFramePr>
          <p:cNvPr id="4" name="Table 3"/>
          <p:cNvGraphicFramePr>
            <a:graphicFrameLocks noGrp="1"/>
          </p:cNvGraphicFramePr>
          <p:nvPr/>
        </p:nvGraphicFramePr>
        <p:xfrm>
          <a:off x="685800" y="1691640"/>
          <a:ext cx="10835640" cy="4608576"/>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58368">
                <a:tc>
                  <a:txBody>
                    <a:bodyPr/>
                    <a:lstStyle/>
                    <a:p>
                      <a:r>
                        <a:rPr sz="1400" b="1" i="0">
                          <a:solidFill>
                            <a:srgbClr val="FFFFFF"/>
                          </a:solidFill>
                          <a:latin typeface="Arial"/>
                        </a:rPr>
                        <a:t>Tiêu chí</a:t>
                      </a:r>
                    </a:p>
                  </a:txBody>
                  <a:tcPr marT="36576" marB="36576" anchor="ctr">
                    <a:solidFill>
                      <a:srgbClr val="1A478A"/>
                    </a:solidFill>
                  </a:tcPr>
                </a:tc>
                <a:tc>
                  <a:txBody>
                    <a:bodyPr/>
                    <a:lstStyle/>
                    <a:p>
                      <a:r>
                        <a:rPr sz="1400" b="1" i="0">
                          <a:solidFill>
                            <a:srgbClr val="FFFFFF"/>
                          </a:solidFill>
                          <a:latin typeface="Arial"/>
                        </a:rPr>
                        <a:t>Trước khi hoàn thiện</a:t>
                      </a:r>
                    </a:p>
                  </a:txBody>
                  <a:tcPr marT="36576" marB="36576" anchor="ctr">
                    <a:solidFill>
                      <a:srgbClr val="1A478A"/>
                    </a:solidFill>
                  </a:tcPr>
                </a:tc>
                <a:tc>
                  <a:txBody>
                    <a:bodyPr/>
                    <a:lstStyle/>
                    <a:p>
                      <a:r>
                        <a:rPr sz="1400" b="1" i="0">
                          <a:solidFill>
                            <a:srgbClr val="FFFFFF"/>
                          </a:solidFill>
                          <a:latin typeface="Arial"/>
                        </a:rPr>
                        <a:t>Sau khi hoàn thiện</a:t>
                      </a:r>
                    </a:p>
                  </a:txBody>
                  <a:tcPr marT="36576" marB="36576" anchor="ctr">
                    <a:solidFill>
                      <a:srgbClr val="1A478A"/>
                    </a:solidFill>
                  </a:tcPr>
                </a:tc>
                <a:extLst>
                  <a:ext uri="{0D108BD9-81ED-4DB2-BD59-A6C34878D82A}">
                    <a16:rowId xmlns:a16="http://schemas.microsoft.com/office/drawing/2014/main" val="10000"/>
                  </a:ext>
                </a:extLst>
              </a:tr>
              <a:tr h="658368">
                <a:tc>
                  <a:txBody>
                    <a:bodyPr/>
                    <a:lstStyle/>
                    <a:p>
                      <a:r>
                        <a:rPr sz="1400" b="1" i="0">
                          <a:solidFill>
                            <a:srgbClr val="1A1A2E"/>
                          </a:solidFill>
                          <a:latin typeface="Arial"/>
                        </a:rPr>
                        <a:t>Định dạng dữ liệu trên HDFS</a:t>
                      </a:r>
                    </a:p>
                  </a:txBody>
                  <a:tcPr marT="36576" marB="36576" anchor="ctr">
                    <a:solidFill>
                      <a:srgbClr val="FFFFFF"/>
                    </a:solidFill>
                  </a:tcPr>
                </a:tc>
                <a:tc>
                  <a:txBody>
                    <a:bodyPr/>
                    <a:lstStyle/>
                    <a:p>
                      <a:r>
                        <a:rPr sz="1400" b="0" i="0">
                          <a:solidFill>
                            <a:srgbClr val="1A1A2E"/>
                          </a:solidFill>
                          <a:latin typeface="Arial"/>
                        </a:rPr>
                        <a:t>CSV thô, dung lượng lớn, đọc chậm</a:t>
                      </a:r>
                    </a:p>
                  </a:txBody>
                  <a:tcPr marT="36576" marB="36576" anchor="ctr">
                    <a:solidFill>
                      <a:srgbClr val="FFFFFF"/>
                    </a:solidFill>
                  </a:tcPr>
                </a:tc>
                <a:tc>
                  <a:txBody>
                    <a:bodyPr/>
                    <a:lstStyle/>
                    <a:p>
                      <a:r>
                        <a:rPr sz="1400" b="0" i="0">
                          <a:solidFill>
                            <a:srgbClr val="1A1A2E"/>
                          </a:solidFill>
                          <a:latin typeface="Arial"/>
                        </a:rPr>
                        <a:t>Parquet (Snappy) cho Silver và Gold, giảm khoảng 70% kích thước, đọc nhanh hơn nhiều lần</a:t>
                      </a:r>
                    </a:p>
                  </a:txBody>
                  <a:tcPr marT="36576" marB="36576" anchor="ctr">
                    <a:solidFill>
                      <a:srgbClr val="E3F4E8"/>
                    </a:solidFill>
                  </a:tcPr>
                </a:tc>
                <a:extLst>
                  <a:ext uri="{0D108BD9-81ED-4DB2-BD59-A6C34878D82A}">
                    <a16:rowId xmlns:a16="http://schemas.microsoft.com/office/drawing/2014/main" val="10001"/>
                  </a:ext>
                </a:extLst>
              </a:tr>
              <a:tr h="658368">
                <a:tc>
                  <a:txBody>
                    <a:bodyPr/>
                    <a:lstStyle/>
                    <a:p>
                      <a:r>
                        <a:rPr sz="1400" b="1" i="0">
                          <a:solidFill>
                            <a:srgbClr val="1A1A2E"/>
                          </a:solidFill>
                          <a:latin typeface="Arial"/>
                        </a:rPr>
                        <a:t>Chất lượng dữ liệu</a:t>
                      </a:r>
                    </a:p>
                  </a:txBody>
                  <a:tcPr marT="36576" marB="36576" anchor="ctr">
                    <a:solidFill>
                      <a:srgbClr val="F4F7FC"/>
                    </a:solidFill>
                  </a:tcPr>
                </a:tc>
                <a:tc>
                  <a:txBody>
                    <a:bodyPr/>
                    <a:lstStyle/>
                    <a:p>
                      <a:r>
                        <a:rPr sz="1400" b="0" i="0">
                          <a:solidFill>
                            <a:srgbClr val="1A1A2E"/>
                          </a:solidFill>
                          <a:latin typeface="Arial"/>
                        </a:rPr>
                        <a:t>Nhiều bản ghi rác, trường NULL, xung đột tên cột</a:t>
                      </a:r>
                    </a:p>
                  </a:txBody>
                  <a:tcPr marT="36576" marB="36576" anchor="ctr">
                    <a:solidFill>
                      <a:srgbClr val="F4F7FC"/>
                    </a:solidFill>
                  </a:tcPr>
                </a:tc>
                <a:tc>
                  <a:txBody>
                    <a:bodyPr/>
                    <a:lstStyle/>
                    <a:p>
                      <a:r>
                        <a:rPr sz="1400" b="0" i="0">
                          <a:solidFill>
                            <a:srgbClr val="1A1A2E"/>
                          </a:solidFill>
                          <a:latin typeface="Arial"/>
                        </a:rPr>
                        <a:t>Đã làm sạch, chuẩn hóa kiểu dữ liệu, trích xuất năm phát hành</a:t>
                      </a:r>
                    </a:p>
                  </a:txBody>
                  <a:tcPr marT="36576" marB="36576" anchor="ctr">
                    <a:solidFill>
                      <a:srgbClr val="EDF8F0"/>
                    </a:solidFill>
                  </a:tcPr>
                </a:tc>
                <a:extLst>
                  <a:ext uri="{0D108BD9-81ED-4DB2-BD59-A6C34878D82A}">
                    <a16:rowId xmlns:a16="http://schemas.microsoft.com/office/drawing/2014/main" val="10002"/>
                  </a:ext>
                </a:extLst>
              </a:tr>
              <a:tr h="658368">
                <a:tc>
                  <a:txBody>
                    <a:bodyPr/>
                    <a:lstStyle/>
                    <a:p>
                      <a:r>
                        <a:rPr sz="1400" b="1" i="0">
                          <a:solidFill>
                            <a:srgbClr val="1A1A2E"/>
                          </a:solidFill>
                          <a:latin typeface="Arial"/>
                        </a:rPr>
                        <a:t>Học máy</a:t>
                      </a:r>
                    </a:p>
                  </a:txBody>
                  <a:tcPr marT="36576" marB="36576" anchor="ctr">
                    <a:solidFill>
                      <a:srgbClr val="FFFFFF"/>
                    </a:solidFill>
                  </a:tcPr>
                </a:tc>
                <a:tc>
                  <a:txBody>
                    <a:bodyPr/>
                    <a:lstStyle/>
                    <a:p>
                      <a:r>
                        <a:rPr sz="1400" b="0" i="0">
                          <a:solidFill>
                            <a:srgbClr val="1A1A2E"/>
                          </a:solidFill>
                          <a:latin typeface="Arial"/>
                        </a:rPr>
                        <a:t>Chưa có mô hình</a:t>
                      </a:r>
                    </a:p>
                  </a:txBody>
                  <a:tcPr marT="36576" marB="36576" anchor="ctr">
                    <a:solidFill>
                      <a:srgbClr val="FFFFFF"/>
                    </a:solidFill>
                  </a:tcPr>
                </a:tc>
                <a:tc>
                  <a:txBody>
                    <a:bodyPr/>
                    <a:lstStyle/>
                    <a:p>
                      <a:r>
                        <a:rPr sz="1400" b="0" i="0">
                          <a:solidFill>
                            <a:srgbClr val="1A1A2E"/>
                          </a:solidFill>
                          <a:latin typeface="Arial"/>
                        </a:rPr>
                        <a:t>Spark MLlib ALS, huấn luyện 92 giây, RMSE 1.1870</a:t>
                      </a:r>
                    </a:p>
                  </a:txBody>
                  <a:tcPr marT="36576" marB="36576" anchor="ctr">
                    <a:solidFill>
                      <a:srgbClr val="E3F4E8"/>
                    </a:solidFill>
                  </a:tcPr>
                </a:tc>
                <a:extLst>
                  <a:ext uri="{0D108BD9-81ED-4DB2-BD59-A6C34878D82A}">
                    <a16:rowId xmlns:a16="http://schemas.microsoft.com/office/drawing/2014/main" val="10003"/>
                  </a:ext>
                </a:extLst>
              </a:tr>
              <a:tr h="658368">
                <a:tc>
                  <a:txBody>
                    <a:bodyPr/>
                    <a:lstStyle/>
                    <a:p>
                      <a:r>
                        <a:rPr sz="1400" b="1" i="0">
                          <a:solidFill>
                            <a:srgbClr val="1A1A2E"/>
                          </a:solidFill>
                          <a:latin typeface="Arial"/>
                        </a:rPr>
                        <a:t>Quản lý tài nguyên WSL</a:t>
                      </a:r>
                    </a:p>
                  </a:txBody>
                  <a:tcPr marT="36576" marB="36576" anchor="ctr">
                    <a:solidFill>
                      <a:srgbClr val="F4F7FC"/>
                    </a:solidFill>
                  </a:tcPr>
                </a:tc>
                <a:tc>
                  <a:txBody>
                    <a:bodyPr/>
                    <a:lstStyle/>
                    <a:p>
                      <a:r>
                        <a:rPr sz="1400" b="0" i="0">
                          <a:solidFill>
                            <a:srgbClr val="1A1A2E"/>
                          </a:solidFill>
                          <a:latin typeface="Arial"/>
                        </a:rPr>
                        <a:t>Dễ lỗi OutOfMemory và đầy đĩa với RAM 1,4 GB</a:t>
                      </a:r>
                    </a:p>
                  </a:txBody>
                  <a:tcPr marT="36576" marB="36576" anchor="ctr">
                    <a:solidFill>
                      <a:srgbClr val="F4F7FC"/>
                    </a:solidFill>
                  </a:tcPr>
                </a:tc>
                <a:tc>
                  <a:txBody>
                    <a:bodyPr/>
                    <a:lstStyle/>
                    <a:p>
                      <a:r>
                        <a:rPr sz="1400" b="0" i="0">
                          <a:solidFill>
                            <a:srgbClr val="1A1A2E"/>
                          </a:solidFill>
                          <a:latin typeface="Arial"/>
                        </a:rPr>
                        <a:t>Tối ưu bằng lấy mẫu, biến đổi hẹp, thư mục tạm trên đĩa thực</a:t>
                      </a:r>
                    </a:p>
                  </a:txBody>
                  <a:tcPr marT="36576" marB="36576" anchor="ctr">
                    <a:solidFill>
                      <a:srgbClr val="EDF8F0"/>
                    </a:solidFill>
                  </a:tcPr>
                </a:tc>
                <a:extLst>
                  <a:ext uri="{0D108BD9-81ED-4DB2-BD59-A6C34878D82A}">
                    <a16:rowId xmlns:a16="http://schemas.microsoft.com/office/drawing/2014/main" val="10004"/>
                  </a:ext>
                </a:extLst>
              </a:tr>
              <a:tr h="658368">
                <a:tc>
                  <a:txBody>
                    <a:bodyPr/>
                    <a:lstStyle/>
                    <a:p>
                      <a:r>
                        <a:rPr sz="1400" b="1" i="0">
                          <a:solidFill>
                            <a:srgbClr val="1A1A2E"/>
                          </a:solidFill>
                          <a:latin typeface="Arial"/>
                        </a:rPr>
                        <a:t>Lưu kết quả</a:t>
                      </a:r>
                    </a:p>
                  </a:txBody>
                  <a:tcPr marT="36576" marB="36576" anchor="ctr">
                    <a:solidFill>
                      <a:srgbClr val="FFFFFF"/>
                    </a:solidFill>
                  </a:tcPr>
                </a:tc>
                <a:tc>
                  <a:txBody>
                    <a:bodyPr/>
                    <a:lstStyle/>
                    <a:p>
                      <a:r>
                        <a:rPr sz="1400" b="0" i="0">
                          <a:solidFill>
                            <a:srgbClr val="1A1A2E"/>
                          </a:solidFill>
                          <a:latin typeface="Arial"/>
                        </a:rPr>
                        <a:t>Chỉ hiển thị tạm bằng .show()</a:t>
                      </a:r>
                    </a:p>
                  </a:txBody>
                  <a:tcPr marT="36576" marB="36576" anchor="ctr">
                    <a:solidFill>
                      <a:srgbClr val="FFFFFF"/>
                    </a:solidFill>
                  </a:tcPr>
                </a:tc>
                <a:tc>
                  <a:txBody>
                    <a:bodyPr/>
                    <a:lstStyle/>
                    <a:p>
                      <a:r>
                        <a:rPr sz="1400" b="0" i="0">
                          <a:solidFill>
                            <a:srgbClr val="1A1A2E"/>
                          </a:solidFill>
                          <a:latin typeface="Arial"/>
                        </a:rPr>
                        <a:t>Lưu bảng gợi ý chuẩn hóa vào tầng Gold</a:t>
                      </a:r>
                    </a:p>
                  </a:txBody>
                  <a:tcPr marT="36576" marB="36576" anchor="ctr">
                    <a:solidFill>
                      <a:srgbClr val="E3F4E8"/>
                    </a:solidFill>
                  </a:tcPr>
                </a:tc>
                <a:extLst>
                  <a:ext uri="{0D108BD9-81ED-4DB2-BD59-A6C34878D82A}">
                    <a16:rowId xmlns:a16="http://schemas.microsoft.com/office/drawing/2014/main" val="10005"/>
                  </a:ext>
                </a:extLst>
              </a:tr>
              <a:tr h="658368">
                <a:tc>
                  <a:txBody>
                    <a:bodyPr/>
                    <a:lstStyle/>
                    <a:p>
                      <a:r>
                        <a:rPr sz="1400" b="1" i="0">
                          <a:solidFill>
                            <a:srgbClr val="1A1A2E"/>
                          </a:solidFill>
                          <a:latin typeface="Arial"/>
                        </a:rPr>
                        <a:t>Tự động hóa và streaming</a:t>
                      </a:r>
                    </a:p>
                  </a:txBody>
                  <a:tcPr marT="36576" marB="36576" anchor="ctr">
                    <a:solidFill>
                      <a:srgbClr val="F4F7FC"/>
                    </a:solidFill>
                  </a:tcPr>
                </a:tc>
                <a:tc>
                  <a:txBody>
                    <a:bodyPr/>
                    <a:lstStyle/>
                    <a:p>
                      <a:r>
                        <a:rPr sz="1400" b="0" i="0">
                          <a:solidFill>
                            <a:srgbClr val="1A1A2E"/>
                          </a:solidFill>
                          <a:latin typeface="Arial"/>
                        </a:rPr>
                        <a:t>Chạy thủ công từng tệp</a:t>
                      </a:r>
                    </a:p>
                  </a:txBody>
                  <a:tcPr marT="36576" marB="36576" anchor="ctr">
                    <a:solidFill>
                      <a:srgbClr val="F4F7FC"/>
                    </a:solidFill>
                  </a:tcPr>
                </a:tc>
                <a:tc>
                  <a:txBody>
                    <a:bodyPr/>
                    <a:lstStyle/>
                    <a:p>
                      <a:r>
                        <a:rPr sz="1400" b="0" i="0">
                          <a:solidFill>
                            <a:srgbClr val="1A1A2E"/>
                          </a:solidFill>
                          <a:latin typeface="Arial"/>
                        </a:rPr>
                        <a:t>Có luồng Kafka Streaming và DAG Airflow</a:t>
                      </a:r>
                    </a:p>
                  </a:txBody>
                  <a:tcPr marT="36576" marB="36576" anchor="ctr">
                    <a:solidFill>
                      <a:srgbClr val="EDF8F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KHÓ KHĂN VÀ CÁCH GIẢI QUYẾT</a:t>
            </a:r>
          </a:p>
        </p:txBody>
      </p:sp>
      <p:sp>
        <p:nvSpPr>
          <p:cNvPr id="4" name="Rounded Rectangle 3"/>
          <p:cNvSpPr/>
          <p:nvPr/>
        </p:nvSpPr>
        <p:spPr>
          <a:xfrm>
            <a:off x="685800" y="1691640"/>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764792"/>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1</a:t>
            </a:r>
          </a:p>
        </p:txBody>
      </p:sp>
      <p:sp>
        <p:nvSpPr>
          <p:cNvPr id="6" name="TextBox 5"/>
          <p:cNvSpPr txBox="1"/>
          <p:nvPr/>
        </p:nvSpPr>
        <p:spPr>
          <a:xfrm>
            <a:off x="1325880" y="1691640"/>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Mỗi máy chỉ chạy một DataNode</a:t>
            </a:r>
          </a:p>
        </p:txBody>
      </p:sp>
      <p:sp>
        <p:nvSpPr>
          <p:cNvPr id="7" name="Right Arrow 6"/>
          <p:cNvSpPr/>
          <p:nvPr/>
        </p:nvSpPr>
        <p:spPr>
          <a:xfrm>
            <a:off x="5074920" y="1847088"/>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2120" y="1691640"/>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Nhân bản thư mục cấu hình, đổi cổng, thư mục PID và log cho DataNode thứ hai</a:t>
            </a:r>
          </a:p>
        </p:txBody>
      </p:sp>
      <p:sp>
        <p:nvSpPr>
          <p:cNvPr id="9" name="Rounded Rectangle 8"/>
          <p:cNvSpPr/>
          <p:nvPr/>
        </p:nvSpPr>
        <p:spPr>
          <a:xfrm>
            <a:off x="685800" y="2350008"/>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2423160"/>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2</a:t>
            </a:r>
          </a:p>
        </p:txBody>
      </p:sp>
      <p:sp>
        <p:nvSpPr>
          <p:cNvPr id="11" name="TextBox 10"/>
          <p:cNvSpPr txBox="1"/>
          <p:nvPr/>
        </p:nvSpPr>
        <p:spPr>
          <a:xfrm>
            <a:off x="1325880" y="2350008"/>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Tràn đĩa tạm với 25 triệu dòng</a:t>
            </a:r>
          </a:p>
        </p:txBody>
      </p:sp>
      <p:sp>
        <p:nvSpPr>
          <p:cNvPr id="12" name="Right Arrow 11"/>
          <p:cNvSpPr/>
          <p:nvPr/>
        </p:nvSpPr>
        <p:spPr>
          <a:xfrm>
            <a:off x="5074920" y="2505456"/>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32120" y="2350008"/>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Chuyển spark.local.dir sang đĩa thực, bỏ dropDuplicates gây shuffle</a:t>
            </a:r>
          </a:p>
        </p:txBody>
      </p:sp>
      <p:sp>
        <p:nvSpPr>
          <p:cNvPr id="14" name="Rounded Rectangle 13"/>
          <p:cNvSpPr/>
          <p:nvPr/>
        </p:nvSpPr>
        <p:spPr>
          <a:xfrm>
            <a:off x="685800" y="3008376"/>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77240" y="3081528"/>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3</a:t>
            </a:r>
          </a:p>
        </p:txBody>
      </p:sp>
      <p:sp>
        <p:nvSpPr>
          <p:cNvPr id="16" name="TextBox 15"/>
          <p:cNvSpPr txBox="1"/>
          <p:nvPr/>
        </p:nvSpPr>
        <p:spPr>
          <a:xfrm>
            <a:off x="1325880" y="3008376"/>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Thiếu RAM khi huấn luyện ALS</a:t>
            </a:r>
          </a:p>
        </p:txBody>
      </p:sp>
      <p:sp>
        <p:nvSpPr>
          <p:cNvPr id="17" name="Right Arrow 16"/>
          <p:cNvSpPr/>
          <p:nvPr/>
        </p:nvSpPr>
        <p:spPr>
          <a:xfrm>
            <a:off x="5074920" y="3163824"/>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32120" y="3008376"/>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Lấy mẫu 3% dữ liệu, giảm rank và số vòng lặp</a:t>
            </a:r>
          </a:p>
        </p:txBody>
      </p:sp>
      <p:sp>
        <p:nvSpPr>
          <p:cNvPr id="19" name="Rounded Rectangle 18"/>
          <p:cNvSpPr/>
          <p:nvPr/>
        </p:nvSpPr>
        <p:spPr>
          <a:xfrm>
            <a:off x="685800" y="3666744"/>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3739896"/>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4</a:t>
            </a:r>
          </a:p>
        </p:txBody>
      </p:sp>
      <p:sp>
        <p:nvSpPr>
          <p:cNvPr id="21" name="TextBox 20"/>
          <p:cNvSpPr txBox="1"/>
          <p:nvPr/>
        </p:nvSpPr>
        <p:spPr>
          <a:xfrm>
            <a:off x="1325880" y="3666744"/>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Lỗi AMBIGUOUS_REFERENCE khi join</a:t>
            </a:r>
          </a:p>
        </p:txBody>
      </p:sp>
      <p:sp>
        <p:nvSpPr>
          <p:cNvPr id="22" name="Right Arrow 21"/>
          <p:cNvSpPr/>
          <p:nvPr/>
        </p:nvSpPr>
        <p:spPr>
          <a:xfrm>
            <a:off x="5074920" y="3822191"/>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32120" y="3666744"/>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Đổi tên và chọn cột tường minh trước khi ghép bảng</a:t>
            </a:r>
          </a:p>
        </p:txBody>
      </p:sp>
      <p:sp>
        <p:nvSpPr>
          <p:cNvPr id="24" name="Rounded Rectangle 23"/>
          <p:cNvSpPr/>
          <p:nvPr/>
        </p:nvSpPr>
        <p:spPr>
          <a:xfrm>
            <a:off x="685800" y="4325112"/>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77240" y="4398264"/>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5</a:t>
            </a:r>
          </a:p>
        </p:txBody>
      </p:sp>
      <p:sp>
        <p:nvSpPr>
          <p:cNvPr id="26" name="TextBox 25"/>
          <p:cNvSpPr txBox="1"/>
          <p:nvPr/>
        </p:nvSpPr>
        <p:spPr>
          <a:xfrm>
            <a:off x="1325880" y="4325112"/>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Metadata có xuống dòng và dấu nháy</a:t>
            </a:r>
          </a:p>
        </p:txBody>
      </p:sp>
      <p:sp>
        <p:nvSpPr>
          <p:cNvPr id="27" name="Right Arrow 26"/>
          <p:cNvSpPr/>
          <p:nvPr/>
        </p:nvSpPr>
        <p:spPr>
          <a:xfrm>
            <a:off x="5074920" y="4480560"/>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32120" y="4325112"/>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Đọc CSV với các tùy chọn quote, escape, multiLine</a:t>
            </a:r>
          </a:p>
        </p:txBody>
      </p:sp>
      <p:sp>
        <p:nvSpPr>
          <p:cNvPr id="29" name="Rounded Rectangle 28"/>
          <p:cNvSpPr/>
          <p:nvPr/>
        </p:nvSpPr>
        <p:spPr>
          <a:xfrm>
            <a:off x="685800" y="4983479"/>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77240" y="5056631"/>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6</a:t>
            </a:r>
          </a:p>
        </p:txBody>
      </p:sp>
      <p:sp>
        <p:nvSpPr>
          <p:cNvPr id="31" name="TextBox 30"/>
          <p:cNvSpPr txBox="1"/>
          <p:nvPr/>
        </p:nvSpPr>
        <p:spPr>
          <a:xfrm>
            <a:off x="1325880" y="4983479"/>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Tương thích phiên bản</a:t>
            </a:r>
          </a:p>
        </p:txBody>
      </p:sp>
      <p:sp>
        <p:nvSpPr>
          <p:cNvPr id="32" name="Right Arrow 31"/>
          <p:cNvSpPr/>
          <p:nvPr/>
        </p:nvSpPr>
        <p:spPr>
          <a:xfrm>
            <a:off x="5074920" y="5138927"/>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532120" y="4983479"/>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PySpark 3.5.1 cho Java 8; Airflow 3.3.2 cho Python 3.14; viết CLI tùy chỉnh khi pip không sinh tệp airflow</a:t>
            </a:r>
          </a:p>
        </p:txBody>
      </p:sp>
      <p:sp>
        <p:nvSpPr>
          <p:cNvPr id="34" name="Rounded Rectangle 33"/>
          <p:cNvSpPr/>
          <p:nvPr/>
        </p:nvSpPr>
        <p:spPr>
          <a:xfrm>
            <a:off x="685800" y="5641848"/>
            <a:ext cx="4297680" cy="566928"/>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77240" y="5715000"/>
            <a:ext cx="420624" cy="420624"/>
          </a:xfrm>
          <a:prstGeom prst="ellipse">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7</a:t>
            </a:r>
          </a:p>
        </p:txBody>
      </p:sp>
      <p:sp>
        <p:nvSpPr>
          <p:cNvPr id="36" name="TextBox 35"/>
          <p:cNvSpPr txBox="1"/>
          <p:nvPr/>
        </p:nvSpPr>
        <p:spPr>
          <a:xfrm>
            <a:off x="1325880" y="5641848"/>
            <a:ext cx="3611880" cy="566928"/>
          </a:xfrm>
          <a:prstGeom prst="rect">
            <a:avLst/>
          </a:prstGeom>
          <a:noFill/>
        </p:spPr>
        <p:txBody>
          <a:bodyPr wrap="square" lIns="0" tIns="27432" rIns="0" bIns="27432" anchor="ctr">
            <a:spAutoFit/>
          </a:bodyPr>
          <a:lstStyle/>
          <a:p>
            <a:pPr algn="l">
              <a:spcAft>
                <a:spcPts val="0"/>
              </a:spcAft>
            </a:pPr>
            <a:r>
              <a:rPr sz="1400" b="1" i="0">
                <a:solidFill>
                  <a:srgbClr val="0D2B6E"/>
                </a:solidFill>
                <a:latin typeface="Arial"/>
              </a:rPr>
              <a:t>Mất dữ liệu /tmp khi khởi động lại WSL</a:t>
            </a:r>
          </a:p>
        </p:txBody>
      </p:sp>
      <p:sp>
        <p:nvSpPr>
          <p:cNvPr id="37" name="Right Arrow 36"/>
          <p:cNvSpPr/>
          <p:nvPr/>
        </p:nvSpPr>
        <p:spPr>
          <a:xfrm>
            <a:off x="5074920" y="5797296"/>
            <a:ext cx="32004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532120" y="5641848"/>
            <a:ext cx="5989320" cy="566928"/>
          </a:xfrm>
          <a:prstGeom prst="rect">
            <a:avLst/>
          </a:prstGeom>
          <a:noFill/>
        </p:spPr>
        <p:txBody>
          <a:bodyPr wrap="square" lIns="0" tIns="27432" rIns="0" bIns="27432" anchor="ctr">
            <a:spAutoFit/>
          </a:bodyPr>
          <a:lstStyle/>
          <a:p>
            <a:pPr algn="l">
              <a:spcAft>
                <a:spcPts val="0"/>
              </a:spcAft>
            </a:pPr>
            <a:r>
              <a:rPr sz="1400" b="0" i="0">
                <a:solidFill>
                  <a:srgbClr val="1A1A2E"/>
                </a:solidFill>
                <a:latin typeface="Arial"/>
              </a:rPr>
              <a:t>Kịch bản khởi động lại Kafka: định dạng lại storage, tạo lại topic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mẫu" descr="image.png"/>
          <p:cNvPicPr>
            <a:picLocks noChangeAspect="1"/>
          </p:cNvPicPr>
          <p:nvPr/>
        </p:nvPicPr>
        <p:blipFill>
          <a:blip r:embed="rId3"/>
          <a:stretch>
            <a:fillRect/>
          </a:stretch>
        </p:blipFill>
        <p:spPr>
          <a:xfrm>
            <a:off x="0" y="0"/>
            <a:ext cx="12192000" cy="6858000"/>
          </a:xfrm>
          <a:prstGeom prst="rect">
            <a:avLst/>
          </a:prstGeom>
        </p:spPr>
      </p:pic>
      <p:sp>
        <p:nvSpPr>
          <p:cNvPr id="3" name="Tiêu đề"/>
          <p:cNvSpPr txBox="1"/>
          <p:nvPr/>
        </p:nvSpPr>
        <p:spPr>
          <a:xfrm>
            <a:off x="685800" y="868680"/>
            <a:ext cx="10835640" cy="640080"/>
          </a:xfrm>
          <a:prstGeom prst="rect">
            <a:avLst/>
          </a:prstGeom>
          <a:noFill/>
        </p:spPr>
        <p:txBody>
          <a:bodyPr wrap="square" lIns="0" tIns="27432" rIns="0" bIns="27432" anchor="ctr">
            <a:spAutoFit/>
          </a:bodyPr>
          <a:lstStyle/>
          <a:p>
            <a:pPr algn="l">
              <a:spcAft>
                <a:spcPts val="0"/>
              </a:spcAft>
            </a:pPr>
            <a:r>
              <a:rPr sz="2800" b="1" i="0">
                <a:solidFill>
                  <a:srgbClr val="1A478A"/>
                </a:solidFill>
                <a:latin typeface="Arial"/>
              </a:rPr>
              <a:t>KẾT LUẬN &amp; HƯỚNG TIẾP THEO</a:t>
            </a:r>
          </a:p>
        </p:txBody>
      </p:sp>
      <p:sp>
        <p:nvSpPr>
          <p:cNvPr id="4" name="Rounded Rectangle 3"/>
          <p:cNvSpPr/>
          <p:nvPr/>
        </p:nvSpPr>
        <p:spPr>
          <a:xfrm>
            <a:off x="685800" y="1737360"/>
            <a:ext cx="6583680" cy="4526280"/>
          </a:xfrm>
          <a:prstGeom prst="roundRect">
            <a:avLst>
              <a:gd name="adj" fmla="val 6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74519"/>
            <a:ext cx="6126480" cy="411480"/>
          </a:xfrm>
          <a:prstGeom prst="rect">
            <a:avLst/>
          </a:prstGeom>
          <a:noFill/>
        </p:spPr>
        <p:txBody>
          <a:bodyPr wrap="square" lIns="0" tIns="27432" rIns="0" bIns="27432" anchor="t">
            <a:spAutoFit/>
          </a:bodyPr>
          <a:lstStyle/>
          <a:p>
            <a:pPr algn="l">
              <a:spcAft>
                <a:spcPts val="0"/>
              </a:spcAft>
            </a:pPr>
            <a:r>
              <a:rPr sz="1800" b="1" i="0">
                <a:solidFill>
                  <a:srgbClr val="0D2B6E"/>
                </a:solidFill>
                <a:latin typeface="Arial"/>
              </a:rPr>
              <a:t>Đã hoàn thành các thành phần cốt lõi</a:t>
            </a:r>
          </a:p>
        </p:txBody>
      </p:sp>
      <p:sp>
        <p:nvSpPr>
          <p:cNvPr id="6" name="TextBox 5"/>
          <p:cNvSpPr txBox="1"/>
          <p:nvPr/>
        </p:nvSpPr>
        <p:spPr>
          <a:xfrm>
            <a:off x="914400" y="2423160"/>
            <a:ext cx="6126480" cy="3749039"/>
          </a:xfrm>
          <a:prstGeom prst="rect">
            <a:avLst/>
          </a:prstGeom>
          <a:noFill/>
        </p:spPr>
        <p:txBody>
          <a:bodyPr wrap="square" lIns="0" tIns="27432" rIns="0" bIns="27432" anchor="t">
            <a:spAutoFit/>
          </a:bodyPr>
          <a:lstStyle/>
          <a:p>
            <a:pPr marL="201168" indent="-201168" algn="l">
              <a:spcAft>
                <a:spcPts val="1300"/>
              </a:spcAft>
              <a:buClr>
                <a:srgbClr val="4472C4"/>
              </a:buClr>
              <a:buFont typeface="Arial"/>
              <a:buChar char="•"/>
            </a:pPr>
            <a:r>
              <a:rPr sz="1600" b="0" i="0">
                <a:solidFill>
                  <a:srgbClr val="1A1A2E"/>
                </a:solidFill>
                <a:latin typeface="Arial"/>
              </a:rPr>
              <a:t>Cụm HDFS 2 DataNode</a:t>
            </a:r>
          </a:p>
          <a:p>
            <a:pPr marL="201168" indent="-201168" algn="l">
              <a:spcAft>
                <a:spcPts val="1300"/>
              </a:spcAft>
              <a:buClr>
                <a:srgbClr val="4472C4"/>
              </a:buClr>
              <a:buFont typeface="Arial"/>
              <a:buChar char="•"/>
            </a:pPr>
            <a:r>
              <a:rPr sz="1600" b="0" i="0">
                <a:solidFill>
                  <a:srgbClr val="1A1A2E"/>
                </a:solidFill>
                <a:latin typeface="Arial"/>
              </a:rPr>
              <a:t>Kho Medallion với 25 triệu đánh giá ở định dạng Parquet</a:t>
            </a:r>
          </a:p>
          <a:p>
            <a:pPr marL="201168" indent="-201168" algn="l">
              <a:spcAft>
                <a:spcPts val="1300"/>
              </a:spcAft>
              <a:buClr>
                <a:srgbClr val="4472C4"/>
              </a:buClr>
              <a:buFont typeface="Arial"/>
              <a:buChar char="•"/>
            </a:pPr>
            <a:r>
              <a:rPr sz="1600" b="0" i="0">
                <a:solidFill>
                  <a:srgbClr val="1A1A2E"/>
                </a:solidFill>
                <a:latin typeface="Arial"/>
              </a:rPr>
              <a:t>Pipeline làm sạch dữ liệu bằng PySpark</a:t>
            </a:r>
          </a:p>
          <a:p>
            <a:pPr marL="201168" indent="-201168" algn="l">
              <a:spcAft>
                <a:spcPts val="1300"/>
              </a:spcAft>
              <a:buClr>
                <a:srgbClr val="4472C4"/>
              </a:buClr>
              <a:buFont typeface="Arial"/>
              <a:buChar char="•"/>
            </a:pPr>
            <a:r>
              <a:rPr sz="1600" b="0" i="0">
                <a:solidFill>
                  <a:srgbClr val="1A1A2E"/>
                </a:solidFill>
                <a:latin typeface="Arial"/>
              </a:rPr>
              <a:t>Mô hình gợi ý ALS, kết quả lưu ở tầng Gold</a:t>
            </a:r>
          </a:p>
          <a:p>
            <a:pPr marL="201168" indent="-201168" algn="l">
              <a:spcAft>
                <a:spcPts val="1300"/>
              </a:spcAft>
              <a:buClr>
                <a:srgbClr val="4472C4"/>
              </a:buClr>
              <a:buFont typeface="Arial"/>
              <a:buChar char="•"/>
            </a:pPr>
            <a:r>
              <a:rPr sz="1600" b="0" i="0">
                <a:solidFill>
                  <a:srgbClr val="1A1A2E"/>
                </a:solidFill>
                <a:latin typeface="Arial"/>
              </a:rPr>
              <a:t>Luồng thời gian thực Kafka và Spark Streaming</a:t>
            </a:r>
          </a:p>
          <a:p>
            <a:pPr marL="201168" indent="-201168" algn="l">
              <a:spcAft>
                <a:spcPts val="1300"/>
              </a:spcAft>
              <a:buClr>
                <a:srgbClr val="4472C4"/>
              </a:buClr>
              <a:buFont typeface="Arial"/>
              <a:buChar char="•"/>
            </a:pPr>
            <a:r>
              <a:rPr sz="1600" b="0" i="0">
                <a:solidFill>
                  <a:srgbClr val="1A1A2E"/>
                </a:solidFill>
                <a:latin typeface="Arial"/>
              </a:rPr>
              <a:t>Bộ điều phối Airflow và giao diện web FastAPI</a:t>
            </a:r>
          </a:p>
          <a:p>
            <a:pPr marL="201168" indent="-201168" algn="l">
              <a:spcAft>
                <a:spcPts val="1300"/>
              </a:spcAft>
              <a:buClr>
                <a:srgbClr val="4472C4"/>
              </a:buClr>
              <a:buFont typeface="Arial"/>
              <a:buChar char="•"/>
            </a:pPr>
            <a:r>
              <a:rPr sz="1600" b="0" i="0">
                <a:solidFill>
                  <a:srgbClr val="1A1A2E"/>
                </a:solidFill>
                <a:latin typeface="Arial"/>
              </a:rPr>
              <a:t>Vận hành ổn định trên tài nguyên hạn chế nhờ tối ưu bộ nhớ và đĩa</a:t>
            </a:r>
          </a:p>
        </p:txBody>
      </p:sp>
      <p:sp>
        <p:nvSpPr>
          <p:cNvPr id="7" name="Rounded Rectangle 6"/>
          <p:cNvSpPr/>
          <p:nvPr/>
        </p:nvSpPr>
        <p:spPr>
          <a:xfrm>
            <a:off x="7543800" y="1737360"/>
            <a:ext cx="3977639" cy="4526280"/>
          </a:xfrm>
          <a:prstGeom prst="roundRect">
            <a:avLst>
              <a:gd name="adj" fmla="val 6000"/>
            </a:avLst>
          </a:prstGeom>
          <a:solidFill>
            <a:srgbClr val="1A4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0" y="1874519"/>
            <a:ext cx="3520440" cy="411480"/>
          </a:xfrm>
          <a:prstGeom prst="rect">
            <a:avLst/>
          </a:prstGeom>
          <a:noFill/>
        </p:spPr>
        <p:txBody>
          <a:bodyPr wrap="square" lIns="0" tIns="27432" rIns="0" bIns="27432" anchor="t">
            <a:spAutoFit/>
          </a:bodyPr>
          <a:lstStyle/>
          <a:p>
            <a:pPr algn="l">
              <a:spcAft>
                <a:spcPts val="0"/>
              </a:spcAft>
            </a:pPr>
            <a:r>
              <a:rPr sz="1800" b="1" i="0">
                <a:solidFill>
                  <a:srgbClr val="FFFFFF"/>
                </a:solidFill>
                <a:latin typeface="Arial"/>
              </a:rPr>
              <a:t>Bước tiếp theo</a:t>
            </a:r>
          </a:p>
        </p:txBody>
      </p:sp>
      <p:sp>
        <p:nvSpPr>
          <p:cNvPr id="9" name="Oval 8"/>
          <p:cNvSpPr/>
          <p:nvPr/>
        </p:nvSpPr>
        <p:spPr>
          <a:xfrm>
            <a:off x="7772400" y="2606040"/>
            <a:ext cx="502920" cy="50292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1A1A2E"/>
                </a:solidFill>
                <a:latin typeface="Arial"/>
              </a:rPr>
              <a:t>1</a:t>
            </a:r>
          </a:p>
        </p:txBody>
      </p:sp>
      <p:sp>
        <p:nvSpPr>
          <p:cNvPr id="10" name="TextBox 9"/>
          <p:cNvSpPr txBox="1"/>
          <p:nvPr/>
        </p:nvSpPr>
        <p:spPr>
          <a:xfrm>
            <a:off x="8458200" y="2514600"/>
            <a:ext cx="2880360" cy="685800"/>
          </a:xfrm>
          <a:prstGeom prst="rect">
            <a:avLst/>
          </a:prstGeom>
          <a:noFill/>
        </p:spPr>
        <p:txBody>
          <a:bodyPr wrap="square" lIns="0" tIns="27432" rIns="0" bIns="27432" anchor="ctr">
            <a:spAutoFit/>
          </a:bodyPr>
          <a:lstStyle/>
          <a:p>
            <a:pPr algn="l">
              <a:spcAft>
                <a:spcPts val="0"/>
              </a:spcAft>
            </a:pPr>
            <a:r>
              <a:rPr sz="1600" b="1" i="0">
                <a:solidFill>
                  <a:srgbClr val="FFFFFF"/>
                </a:solidFill>
                <a:latin typeface="Arial"/>
              </a:rPr>
              <a:t>Nâng cao chất lượng mô hình</a:t>
            </a:r>
          </a:p>
        </p:txBody>
      </p:sp>
      <p:sp>
        <p:nvSpPr>
          <p:cNvPr id="11" name="Oval 10"/>
          <p:cNvSpPr/>
          <p:nvPr/>
        </p:nvSpPr>
        <p:spPr>
          <a:xfrm>
            <a:off x="7772400" y="3794760"/>
            <a:ext cx="502920" cy="50292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1A1A2E"/>
                </a:solidFill>
                <a:latin typeface="Arial"/>
              </a:rPr>
              <a:t>2</a:t>
            </a:r>
          </a:p>
        </p:txBody>
      </p:sp>
      <p:sp>
        <p:nvSpPr>
          <p:cNvPr id="12" name="TextBox 11"/>
          <p:cNvSpPr txBox="1"/>
          <p:nvPr/>
        </p:nvSpPr>
        <p:spPr>
          <a:xfrm>
            <a:off x="8458200" y="3703320"/>
            <a:ext cx="2880360" cy="685800"/>
          </a:xfrm>
          <a:prstGeom prst="rect">
            <a:avLst/>
          </a:prstGeom>
          <a:noFill/>
        </p:spPr>
        <p:txBody>
          <a:bodyPr wrap="square" lIns="0" tIns="27432" rIns="0" bIns="27432" anchor="ctr">
            <a:spAutoFit/>
          </a:bodyPr>
          <a:lstStyle/>
          <a:p>
            <a:pPr algn="l">
              <a:spcAft>
                <a:spcPts val="0"/>
              </a:spcAft>
            </a:pPr>
            <a:r>
              <a:rPr sz="1600" b="1" i="0">
                <a:solidFill>
                  <a:srgbClr val="FFFFFF"/>
                </a:solidFill>
                <a:latin typeface="Arial"/>
              </a:rPr>
              <a:t>Hoàn thiện chuỗi tự động hóa</a:t>
            </a:r>
          </a:p>
        </p:txBody>
      </p:sp>
      <p:sp>
        <p:nvSpPr>
          <p:cNvPr id="13" name="Oval 12"/>
          <p:cNvSpPr/>
          <p:nvPr/>
        </p:nvSpPr>
        <p:spPr>
          <a:xfrm>
            <a:off x="7772400" y="4983480"/>
            <a:ext cx="502920" cy="50292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1A1A2E"/>
                </a:solidFill>
                <a:latin typeface="Arial"/>
              </a:rPr>
              <a:t>3</a:t>
            </a:r>
          </a:p>
        </p:txBody>
      </p:sp>
      <p:sp>
        <p:nvSpPr>
          <p:cNvPr id="14" name="TextBox 13"/>
          <p:cNvSpPr txBox="1"/>
          <p:nvPr/>
        </p:nvSpPr>
        <p:spPr>
          <a:xfrm>
            <a:off x="8458200" y="4892040"/>
            <a:ext cx="2880360" cy="685800"/>
          </a:xfrm>
          <a:prstGeom prst="rect">
            <a:avLst/>
          </a:prstGeom>
          <a:noFill/>
        </p:spPr>
        <p:txBody>
          <a:bodyPr wrap="square" lIns="0" tIns="27432" rIns="0" bIns="27432" anchor="ctr">
            <a:spAutoFit/>
          </a:bodyPr>
          <a:lstStyle/>
          <a:p>
            <a:pPr algn="l">
              <a:spcAft>
                <a:spcPts val="0"/>
              </a:spcAft>
            </a:pPr>
            <a:r>
              <a:rPr sz="1600" b="1" i="0">
                <a:solidFill>
                  <a:srgbClr val="FFFFFF"/>
                </a:solidFill>
                <a:latin typeface="Arial"/>
              </a:rPr>
              <a:t>Hoàn thiện giao diện trình bày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u2.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097280" y="2194560"/>
            <a:ext cx="9966960" cy="914400"/>
          </a:xfrm>
          <a:prstGeom prst="rect">
            <a:avLst/>
          </a:prstGeom>
          <a:noFill/>
        </p:spPr>
        <p:txBody>
          <a:bodyPr wrap="square">
            <a:spAutoFit/>
          </a:bodyPr>
          <a:lstStyle/>
          <a:p>
            <a:pPr algn="ctr">
              <a:defRPr sz="4000" b="1">
                <a:solidFill>
                  <a:srgbClr val="1A478A"/>
                </a:solidFill>
                <a:latin typeface="Arial"/>
              </a:defRPr>
            </a:pPr>
            <a:r>
              <a:t>CẢM ƠN QUÝ THẦY CÔ ĐÃ LẮNG NGHE!</a:t>
            </a:r>
          </a:p>
        </p:txBody>
      </p:sp>
      <p:sp>
        <p:nvSpPr>
          <p:cNvPr id="4" name="TextBox 3"/>
          <p:cNvSpPr txBox="1"/>
          <p:nvPr/>
        </p:nvSpPr>
        <p:spPr>
          <a:xfrm>
            <a:off x="1013305" y="3611880"/>
            <a:ext cx="9966960" cy="640080"/>
          </a:xfrm>
          <a:prstGeom prst="rect">
            <a:avLst/>
          </a:prstGeom>
          <a:noFill/>
        </p:spPr>
        <p:txBody>
          <a:bodyPr wrap="square">
            <a:spAutoFit/>
          </a:bodyPr>
          <a:lstStyle/>
          <a:p>
            <a:pPr algn="ctr">
              <a:defRPr sz="1800" b="0">
                <a:solidFill>
                  <a:srgbClr val="1A1A2E"/>
                </a:solidFill>
                <a:latin typeface="Arial"/>
              </a:defRPr>
            </a:pPr>
            <a:r>
              <a:rPr dirty="0" err="1"/>
              <a:t>Kính</a:t>
            </a:r>
            <a:r>
              <a:rPr dirty="0"/>
              <a:t> </a:t>
            </a:r>
            <a:r>
              <a:rPr dirty="0" err="1"/>
              <a:t>mời</a:t>
            </a:r>
            <a:r>
              <a:rPr dirty="0"/>
              <a:t> </a:t>
            </a:r>
            <a:r>
              <a:rPr dirty="0" err="1"/>
              <a:t>Quý</a:t>
            </a:r>
            <a:r>
              <a:rPr dirty="0"/>
              <a:t> </a:t>
            </a:r>
            <a:r>
              <a:rPr dirty="0" err="1"/>
              <a:t>Thầy</a:t>
            </a:r>
            <a:r>
              <a:rPr dirty="0"/>
              <a:t> </a:t>
            </a:r>
            <a:r>
              <a:rPr dirty="0" err="1"/>
              <a:t>Cô</a:t>
            </a:r>
            <a:r>
              <a:rPr dirty="0"/>
              <a:t> </a:t>
            </a:r>
            <a:r>
              <a:rPr dirty="0" err="1"/>
              <a:t>đặt</a:t>
            </a:r>
            <a:r>
              <a:rPr dirty="0"/>
              <a:t> </a:t>
            </a:r>
            <a:r>
              <a:rPr dirty="0" err="1"/>
              <a:t>câu</a:t>
            </a:r>
            <a:r>
              <a:rPr dirty="0"/>
              <a:t> </a:t>
            </a:r>
            <a:r>
              <a:rPr dirty="0" err="1"/>
              <a:t>hỏi</a:t>
            </a:r>
            <a:r>
              <a:rPr dirty="0"/>
              <a:t> – </a:t>
            </a:r>
            <a:r>
              <a:rPr dirty="0" err="1"/>
              <a:t>Nhóm</a:t>
            </a:r>
            <a:r>
              <a:rPr dirty="0"/>
              <a:t> </a:t>
            </a:r>
            <a:r>
              <a:rPr dirty="0" err="1"/>
              <a:t>xin</a:t>
            </a:r>
            <a:r>
              <a:rPr dirty="0"/>
              <a:t> </a:t>
            </a:r>
            <a:r>
              <a:rPr dirty="0" err="1"/>
              <a:t>tiếp</a:t>
            </a:r>
            <a:r>
              <a:rPr dirty="0"/>
              <a:t> </a:t>
            </a:r>
            <a:r>
              <a:rPr dirty="0" err="1"/>
              <a:t>thu</a:t>
            </a:r>
            <a:r>
              <a:rPr dirty="0"/>
              <a:t> </a:t>
            </a:r>
            <a:r>
              <a:rPr dirty="0" err="1"/>
              <a:t>và</a:t>
            </a:r>
            <a:r>
              <a:rPr dirty="0"/>
              <a:t> </a:t>
            </a:r>
            <a:r>
              <a:rPr dirty="0" err="1"/>
              <a:t>giải</a:t>
            </a:r>
            <a:r>
              <a:rPr dirty="0"/>
              <a:t> </a:t>
            </a:r>
            <a:r>
              <a:rPr dirty="0" err="1"/>
              <a:t>đáp</a:t>
            </a:r>
            <a:r>
              <a:rPr dirty="0"/>
              <a:t>.</a:t>
            </a:r>
          </a:p>
        </p:txBody>
      </p:sp>
      <p:sp>
        <p:nvSpPr>
          <p:cNvPr id="5" name="TextBox 4"/>
          <p:cNvSpPr txBox="1"/>
          <p:nvPr/>
        </p:nvSpPr>
        <p:spPr>
          <a:xfrm>
            <a:off x="1097280" y="4023360"/>
            <a:ext cx="9966960" cy="548640"/>
          </a:xfrm>
          <a:prstGeom prst="rect">
            <a:avLst/>
          </a:prstGeom>
          <a:noFill/>
        </p:spPr>
        <p:txBody>
          <a:bodyPr wrap="square">
            <a:spAutoFit/>
          </a:bodyPr>
          <a:lstStyle/>
          <a:p>
            <a:pPr algn="ctr">
              <a:defRPr sz="3800" b="1">
                <a:solidFill>
                  <a:srgbClr val="E86C00"/>
                </a:solidFill>
                <a:latin typeface="Arial"/>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3567</Words>
  <Application>Microsoft Office PowerPoint</Application>
  <PresentationFormat>Widescreen</PresentationFormat>
  <Paragraphs>355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10</cp:revision>
  <dcterms:created xsi:type="dcterms:W3CDTF">2013-01-27T09:14:16Z</dcterms:created>
  <dcterms:modified xsi:type="dcterms:W3CDTF">2026-10-12T13:24:57Z</dcterms:modified>
  <cp:category/>
</cp:coreProperties>
</file>